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Modus Primus is the engineering specification companion to PAHA Rev 2.2. This deck is the executive entry point to a 42-page public DOI artifact. Both documents are CC BY 4.0 on Zenodo. The deck targets executive and enterprise-architect audiences; the underlying specification targets engineering, governance, and program audiences. When opening, name the companion relationship explicitly: PAHA says what the architecture must be; Modus Primus says how the enterprise's engineering practice produces and maintains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The claim is bilateral: PAHA is the architectural pattern; Modus Primus is the engineering practice. Neither is sufficient alone. PAHA without engineering practice produces an aspirational pattern that organizations cannot operationalize. Engineering practice without an architectural pattern produces local optimizations that do not compose. Together they form a complete framework for sovereignty-bounded enterprise AI. The PAHA definition box at the top exists for first-time audiences. If the audience already knows PAHA, skim past it; the claim and pull quote carry the slide. If the audience remembers only one thing from this deck, it should be the relationship statement in the pull quote: architectural pattern + engineering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pains motivate the framework. The deck does not need to prove that AI is important: the audience already believes this. The deck needs to show that current AI deployments have structural problems that current AI governance frameworks do not address. If you have a sovereignty-constrained audience (defense, regulated industries), emphasize the third block: that is the constraint vendor-integrated orchestration cannot meet. If the audience is commercial enterprise, emphasize the second and fourth blocks: those are the costs they are paying without realizing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first question every reviewer asks: why are there two documents? Because the architectural pattern and the engineering practice that produces it are distinct concerns. PAHA is short and stable; it states the architectural commitments. Modus Primus is longer and evolves with engineering practice; it states how those commitments are produced and maintained. The precedence rule (PAHA wins on tension) prevents the two documents from drifting into competing frameworks. Both documents are independently citable. Both are CC BY 4.0. Both are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framework's sharpest intellectual move. The audience may not initially appreciate why this distinction matters. The right way to explain it: the assistant-centric pattern that PAHA critiques is precisely the conflation of means and mechanisms. A vendor copilot ships a bundled set of mechanisms (its tools, its memory, its retrieval) and presents them as the system's means by default, without requiring purposive election. The capability-centric pattern separates them: mechanisms are inventoried operationally; means are elected purposively. This is the antidote to silent capability creep. Every newly procured tool does not automatically become part of the architecture. It must be elected. Election is a governance act, not a procurement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five-M decomposition is what makes the meta-harness coherent rather than a grab-bag. The hierarchy is more than a memorable name: it states the grounding relationship. Reasoning posture grounds ethical constraint; ethical constraint grounds purpose; purpose determines what must be remembered; what is remembered grounds what the system uses to act. Memory sits fourth, not fifth, because memory is determined by mission (what is worth remembering given what the system is for) and in turn grounds means (the system can only elect repertoire from what it has reason to remember). This is the canonical order. All five files are declarative, not procedural. They specify how the system reasons, what it must not do, what it is for, what it remembers, and what it uses: not how those declarations are mechanically realized. That separation is the load-bearing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five-tier model gives program teams a concrete way to reason about who owns what across enclaves. Modus Primus is the canonical authority for the architectural pattern (one per architectural domain). Modus Secundus is the enclave-bound instantiation (one per enclave). Modus Tertius is the persistent specialist agents within a Secundus instance. Modus Quartus is bounded execution (discrete operational tasks). Modus Quintus is ephemeral coordination (short-lived parallel patterns). Lifecycle persistence decreases as you descend. Primus is domain-durable; Quartus and Quintus are non-persistent. The three principles at the bottom matter: delegation is strict, escalation is hierarchical by default, and safety bypass exists for defined critical conditions. The model is not a rigid hierarchy that breaks under operational pressure: it has a defined release valve.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concreteness slide. It proves the framework is implementable, not aspirational. The WBS specifies the architectural artifacts that constitute a Modus Primus instance. The full WBS is in Appendix B of the specification; this is the layer summary. Read top to bottom: B.2 is system orientation (mode.md). B.3 is the meta-harness with the five Ms in canonical order. B.4 through B.7 are the layers that define, sequence, perform, and operate. B.8 is execution governance with the policy/runtime split. B.9 is the federated architecture (the five tiers from the previous slide). B.10 is observability and assurance. The layer boundaries rule on the right side: defines, sequences, performs, supports: is the governing discipline. When in doubt, an artifact belongs to the layer that defines the policy, not the layer that applies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 assurance is the framework's most distinctive contribution to V&amp;V practice. Most AI governance frameworks treat runtime monitoring as observability: something to look at after the fact. Modus Primus treats it as a V&amp;V instrument that produces continuous evidence between formal review milestones. Four detection categories: drift (the system departing from its mission scope), mission coherence (the system's outcomes still aligned with what it is for), policy deviation (actions deviating from execution policy), and explainability (the reasoning chain available for review). The framework requires that quantitative bounds for each category be calibrated per enclave in the tech baseline. The bounds are not in the canonical spec because they are properly enterprise- and enclave-specific.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escalation is the framework's primary control over how much autonomy the system has. Every new capability starts at level 1. Advancement to level 2, 3, or 4 requires explicit governance approval grounded in evidence. The evidence base comes from runtime assurance (the previous slide). A capability at level 1 accumulates runtime assurance evidence over time. When that evidence demonstrates the capability is operating within its specification and consistent with its mission, the governance review can approve advancement to level 2. The same pattern repeats for advancement to 3 and 4. Level 4 is reserved. Most enterprise AI capabilities will operate at levels 2 or 3 indefinitely. Level 4 should be exceptional, not aspirational. This model addresses the audience's primary concern: how do we control this? The answer is structurally: every advancement requires evidence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what executives most want to see: what would my organization do? The three columns lift directly from Section 1.6 of v1.1, added in response to reviewer feedback. Engineering's longest-lead item is runtime assurance: start it early. Governance's prerequisite action is naming owners (WBS owner, means.md owner specifically). Without owners, every other governance action stalls. Programs should establish federation contract obligations early because federation requirements (schema, audit aggregation) constrain delivery if discovered late. Frame these as descriptive, not prescriptive. The audience's own context determines sequencing: this slide identifies first actions, not a mandatory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prevents the framework from being weaponized as 'Modus Primus has to solve everything.' Without explicit scope boundaries, every gap in the spec becomes an objection. With them, the objection collapses to 'that's not in scope, here's where it belongs.' Two patterns repeat: where Modus Primus stops, enterprise practice picks up (IAM, program management, training, runbooks); where Modus Primus stops, per-enclave tech baselines pick up (model selection, vendor tooling). Both patterns are intentional: the framework specifies what is shared, not what is local. If the audience pushes on any of these, the response is: it lives in the per-enclave tech baseline (Appendix D) or in the enterprise's existing engineering practice, depending on what's shared versus what's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reassures governance and compliance readers that the framework lives in their existing standards landscape. The mapping is deliberate but not overstated. The framing matters: Modus Primus is consistent with these standards, not a strict implementation of any of them. Overclaiming standards compliance is its own credibility risk: every external reviewer will check the claim against the standard's text and find places where the match is imperfect. Better to claim consistency and let the reader make the alignment judgment. If the audience presses on a specific standard, the right response is: the framework borrows from this standard where useful, but the framework's terminology is authoritative within its own scope. Where the standard and the framework differ, the framework wins for AI architecture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slide is a doorway, not a conclusion. The audience should leave knowing exactly where to find both documents and how to cite them. Both DOIs are stable Zenodo identifiers. Both documents are CC BY 4.0: usable in any enterprise context with attribution. Both will appear under the ORCID profile, which gives the audience a way to track future revisions and related work. If the audience has questions that this deck did not answer, the next step is to read the specifications. The deck is the executive entry point; the specifications are the substance.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0" y="1828800"/>
            <a:ext cx="12161520" cy="1005840"/>
          </a:xfrm>
          <a:prstGeom prst="rect">
            <a:avLst/>
          </a:prstGeom>
          <a:noFill/>
          <a:ln/>
        </p:spPr>
        <p:txBody>
          <a:bodyPr wrap="square" lIns="0" tIns="0" rIns="0" bIns="0" rtlCol="0" anchor="ctr"/>
          <a:lstStyle/>
          <a:p>
            <a:pPr algn="ctr" indent="0" marL="0">
              <a:buNone/>
            </a:pPr>
            <a:r>
              <a:rPr lang="en-US" sz="6000" b="1" dirty="0">
                <a:solidFill>
                  <a:srgbClr val="1A1A1A"/>
                </a:solidFill>
                <a:latin typeface="Georgia" pitchFamily="34" charset="0"/>
                <a:ea typeface="Georgia" pitchFamily="34" charset="-122"/>
                <a:cs typeface="Georgia" pitchFamily="34" charset="-120"/>
              </a:rPr>
              <a:t>Modus Primus</a:t>
            </a:r>
            <a:endParaRPr lang="en-US" sz="6000" dirty="0"/>
          </a:p>
        </p:txBody>
      </p:sp>
      <p:sp>
        <p:nvSpPr>
          <p:cNvPr id="3" name="Text 1"/>
          <p:cNvSpPr/>
          <p:nvPr/>
        </p:nvSpPr>
        <p:spPr>
          <a:xfrm>
            <a:off x="0" y="2880360"/>
            <a:ext cx="12161520" cy="457200"/>
          </a:xfrm>
          <a:prstGeom prst="rect">
            <a:avLst/>
          </a:prstGeom>
          <a:noFill/>
          <a:ln/>
        </p:spPr>
        <p:txBody>
          <a:bodyPr wrap="square" lIns="0" tIns="0" rIns="0" bIns="0" rtlCol="0" anchor="t"/>
          <a:lstStyle/>
          <a:p>
            <a:pPr algn="ctr" indent="0" marL="0">
              <a:buNone/>
            </a:pPr>
            <a:r>
              <a:rPr lang="en-US" sz="2200" i="1" dirty="0">
                <a:solidFill>
                  <a:srgbClr val="1A1A1A"/>
                </a:solidFill>
                <a:latin typeface="Georgia" pitchFamily="34" charset="0"/>
                <a:ea typeface="Georgia" pitchFamily="34" charset="-122"/>
                <a:cs typeface="Georgia" pitchFamily="34" charset="-120"/>
              </a:rPr>
              <a:t>Engineering Specification for AI Architecture</a:t>
            </a:r>
            <a:endParaRPr lang="en-US" sz="2200" dirty="0"/>
          </a:p>
        </p:txBody>
      </p:sp>
      <p:sp>
        <p:nvSpPr>
          <p:cNvPr id="4" name="Text 2"/>
          <p:cNvSpPr/>
          <p:nvPr/>
        </p:nvSpPr>
        <p:spPr>
          <a:xfrm>
            <a:off x="0" y="3337560"/>
            <a:ext cx="12161520" cy="365760"/>
          </a:xfrm>
          <a:prstGeom prst="rect">
            <a:avLst/>
          </a:prstGeom>
          <a:noFill/>
          <a:ln/>
        </p:spPr>
        <p:txBody>
          <a:bodyPr wrap="square" lIns="0" tIns="0" rIns="0" bIns="0" rtlCol="0" anchor="t"/>
          <a:lstStyle/>
          <a:p>
            <a:pPr algn="ctr" indent="0" marL="0">
              <a:buNone/>
            </a:pPr>
            <a:r>
              <a:rPr lang="en-US" sz="1600" i="1" dirty="0">
                <a:solidFill>
                  <a:srgbClr val="6B6B6B"/>
                </a:solidFill>
                <a:latin typeface="Calibri" pitchFamily="34" charset="0"/>
                <a:ea typeface="Calibri" pitchFamily="34" charset="-122"/>
                <a:cs typeface="Calibri" pitchFamily="34" charset="-120"/>
              </a:rPr>
              <a:t>(Portable Agent Harness Architecture Companion)</a:t>
            </a:r>
            <a:endParaRPr lang="en-US" sz="1600" dirty="0"/>
          </a:p>
        </p:txBody>
      </p:sp>
      <p:sp>
        <p:nvSpPr>
          <p:cNvPr id="5" name="Text 3"/>
          <p:cNvSpPr/>
          <p:nvPr/>
        </p:nvSpPr>
        <p:spPr>
          <a:xfrm>
            <a:off x="0" y="3794760"/>
            <a:ext cx="12161520" cy="365760"/>
          </a:xfrm>
          <a:prstGeom prst="rect">
            <a:avLst/>
          </a:prstGeom>
          <a:noFill/>
          <a:ln/>
        </p:spPr>
        <p:txBody>
          <a:bodyPr wrap="square" lIns="0" tIns="0" rIns="0" bIns="0" rtlCol="0" anchor="t"/>
          <a:lstStyle/>
          <a:p>
            <a:pPr algn="ctr" indent="0" marL="0">
              <a:buNone/>
            </a:pPr>
            <a:r>
              <a:rPr lang="en-US" sz="1400" i="1" dirty="0">
                <a:solidFill>
                  <a:srgbClr val="8B2E2E"/>
                </a:solidFill>
                <a:latin typeface="Calibri" pitchFamily="34" charset="0"/>
                <a:ea typeface="Calibri" pitchFamily="34" charset="-122"/>
                <a:cs typeface="Calibri" pitchFamily="34" charset="-120"/>
              </a:rPr>
              <a:t>Executive Brief  ·  Version 1.1</a:t>
            </a:r>
            <a:endParaRPr lang="en-US" sz="1400" dirty="0"/>
          </a:p>
        </p:txBody>
      </p:sp>
      <p:sp>
        <p:nvSpPr>
          <p:cNvPr id="6" name="Text 4"/>
          <p:cNvSpPr/>
          <p:nvPr/>
        </p:nvSpPr>
        <p:spPr>
          <a:xfrm>
            <a:off x="0" y="4937760"/>
            <a:ext cx="12161520" cy="32004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James (JD) Longmire</a:t>
            </a:r>
            <a:endParaRPr lang="en-US" sz="1600" dirty="0"/>
          </a:p>
        </p:txBody>
      </p:sp>
      <p:sp>
        <p:nvSpPr>
          <p:cNvPr id="7" name="Text 5"/>
          <p:cNvSpPr/>
          <p:nvPr/>
        </p:nvSpPr>
        <p:spPr>
          <a:xfrm>
            <a:off x="0" y="5257800"/>
            <a:ext cx="12161520" cy="27432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Northrop Grumman Fellow (unaffiliated research)  ·  ORCID: 0009-0009-1383-7698</a:t>
            </a:r>
            <a:endParaRPr lang="en-US" sz="1200" dirty="0"/>
          </a:p>
        </p:txBody>
      </p:sp>
      <p:sp>
        <p:nvSpPr>
          <p:cNvPr id="8" name="Text 6"/>
          <p:cNvSpPr/>
          <p:nvPr/>
        </p:nvSpPr>
        <p:spPr>
          <a:xfrm>
            <a:off x="0" y="6217920"/>
            <a:ext cx="12161520" cy="274320"/>
          </a:xfrm>
          <a:prstGeom prst="rect">
            <a:avLst/>
          </a:prstGeom>
          <a:noFill/>
          <a:ln/>
        </p:spPr>
        <p:txBody>
          <a:bodyPr wrap="square" lIns="0" tIns="0" rIns="0" bIns="0" rtlCol="0" anchor="ctr"/>
          <a:lstStyle/>
          <a:p>
            <a:pPr algn="ctr" indent="0" marL="0">
              <a:buNone/>
            </a:pPr>
            <a:r>
              <a:rPr lang="en-US" sz="1100" i="1" dirty="0">
                <a:solidFill>
                  <a:srgbClr val="6B6B6B"/>
                </a:solidFill>
                <a:latin typeface="Calibri" pitchFamily="34" charset="0"/>
                <a:ea typeface="Calibri" pitchFamily="34" charset="-122"/>
                <a:cs typeface="Calibri" pitchFamily="34" charset="-120"/>
              </a:rPr>
              <a:t>Modus Primus v1.1: </a:t>
            </a:r>
            <a:pPr algn="ctr" indent="0" marL="0">
              <a:buNone/>
            </a:pPr>
            <a:r>
              <a:rPr lang="en-US" sz="1100" dirty="0">
                <a:solidFill>
                  <a:srgbClr val="8B2E2E"/>
                </a:solidFill>
                <a:latin typeface="Calibri" pitchFamily="34" charset="0"/>
                <a:ea typeface="Calibri" pitchFamily="34" charset="-122"/>
                <a:cs typeface="Calibri" pitchFamily="34" charset="-120"/>
              </a:rPr>
              <a:t>doi:10.5281/zenodo.20113785</a:t>
            </a:r>
            <a:pPr algn="ctr" indent="0" marL="0">
              <a:buNone/>
            </a:pPr>
            <a:r>
              <a:rPr lang="en-US" sz="1100" i="1" dirty="0">
                <a:solidFill>
                  <a:srgbClr val="6B6B6B"/>
                </a:solidFill>
                <a:latin typeface="Calibri" pitchFamily="34" charset="0"/>
                <a:ea typeface="Calibri" pitchFamily="34" charset="-122"/>
                <a:cs typeface="Calibri" pitchFamily="34" charset="-120"/>
              </a:rPr>
              <a:t>      PAHA Rev 2.2: </a:t>
            </a:r>
            <a:pPr algn="ctr" indent="0" marL="0">
              <a:buNone/>
            </a:pPr>
            <a:r>
              <a:rPr lang="en-US" sz="1100" dirty="0">
                <a:solidFill>
                  <a:srgbClr val="8B2E2E"/>
                </a:solidFill>
                <a:latin typeface="Calibri" pitchFamily="34" charset="0"/>
                <a:ea typeface="Calibri" pitchFamily="34" charset="-122"/>
                <a:cs typeface="Calibri" pitchFamily="34" charset="-120"/>
              </a:rPr>
              <a:t>doi:10.5281/zenodo.20112631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01  ·  THE CLAIM</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PAHA is the architectural pattern.</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Modus Primus is the engineering practice that produces it.</a:t>
            </a:r>
            <a:endParaRPr lang="en-US" sz="1400" dirty="0"/>
          </a:p>
        </p:txBody>
      </p:sp>
      <p:sp>
        <p:nvSpPr>
          <p:cNvPr id="5" name="Shape 3"/>
          <p:cNvSpPr/>
          <p:nvPr/>
        </p:nvSpPr>
        <p:spPr>
          <a:xfrm>
            <a:off x="548640" y="1874520"/>
            <a:ext cx="54864" cy="502920"/>
          </a:xfrm>
          <a:prstGeom prst="rect">
            <a:avLst/>
          </a:prstGeom>
          <a:solidFill>
            <a:srgbClr val="8B2E2E"/>
          </a:solidFill>
          <a:ln w="12700">
            <a:solidFill>
              <a:srgbClr val="8B2E2E"/>
            </a:solidFill>
            <a:prstDash val="solid"/>
          </a:ln>
        </p:spPr>
      </p:sp>
      <p:sp>
        <p:nvSpPr>
          <p:cNvPr id="6" name="Text 4"/>
          <p:cNvSpPr/>
          <p:nvPr/>
        </p:nvSpPr>
        <p:spPr>
          <a:xfrm>
            <a:off x="777240" y="1828800"/>
            <a:ext cx="10835640" cy="640080"/>
          </a:xfrm>
          <a:prstGeom prst="rect">
            <a:avLst/>
          </a:prstGeom>
          <a:noFill/>
          <a:ln/>
        </p:spPr>
        <p:txBody>
          <a:bodyPr wrap="square" lIns="0" tIns="0" rIns="0" bIns="0" rtlCol="0" anchor="ctr"/>
          <a:lstStyle/>
          <a:p>
            <a:pPr algn="l" indent="0" marL="0">
              <a:buNone/>
            </a:pPr>
            <a:r>
              <a:rPr lang="en-US" sz="1300" b="1" dirty="0">
                <a:solidFill>
                  <a:srgbClr val="8B2E2E"/>
                </a:solidFill>
                <a:latin typeface="Calibri" pitchFamily="34" charset="0"/>
                <a:ea typeface="Calibri" pitchFamily="34" charset="-122"/>
                <a:cs typeface="Calibri" pitchFamily="34" charset="-120"/>
              </a:rPr>
              <a:t>PAHA  ·  Portable Agent Harness Architecture.  </a:t>
            </a:r>
            <a:pPr algn="l" indent="0" marL="0">
              <a:buNone/>
            </a:pPr>
            <a:r>
              <a:rPr lang="en-US" sz="1300" i="1" dirty="0">
                <a:solidFill>
                  <a:srgbClr val="1A1A1A"/>
                </a:solidFill>
                <a:latin typeface="Calibri" pitchFamily="34" charset="0"/>
                <a:ea typeface="Calibri" pitchFamily="34" charset="-122"/>
                <a:cs typeface="Calibri" pitchFamily="34" charset="-120"/>
              </a:rPr>
              <a:t>An architectural pattern in which the durable layer is a meta-harness providing centralized governance, bounded execution, and substrate arbitration over fit-for-purpose consoles and composable agents.</a:t>
            </a:r>
            <a:endParaRPr lang="en-US" sz="1300" dirty="0"/>
          </a:p>
        </p:txBody>
      </p:sp>
      <p:sp>
        <p:nvSpPr>
          <p:cNvPr id="7" name="Text 5"/>
          <p:cNvSpPr/>
          <p:nvPr/>
        </p:nvSpPr>
        <p:spPr>
          <a:xfrm>
            <a:off x="548640" y="2697480"/>
            <a:ext cx="11064240" cy="914400"/>
          </a:xfrm>
          <a:prstGeom prst="rect">
            <a:avLst/>
          </a:prstGeom>
          <a:noFill/>
          <a:ln/>
        </p:spPr>
        <p:txBody>
          <a:bodyPr wrap="square" lIns="0" tIns="0" rIns="0" bIns="0" rtlCol="0" anchor="t"/>
          <a:lstStyle/>
          <a:p>
            <a:pPr algn="l" indent="0" marL="0">
              <a:spcAft>
                <a:spcPts val="800"/>
              </a:spcAft>
              <a:buNone/>
            </a:pPr>
            <a:r>
              <a:rPr lang="en-US" sz="1600" dirty="0">
                <a:solidFill>
                  <a:srgbClr val="1A1A1A"/>
                </a:solidFill>
                <a:latin typeface="Calibri" pitchFamily="34" charset="0"/>
                <a:ea typeface="Calibri" pitchFamily="34" charset="-122"/>
                <a:cs typeface="Calibri" pitchFamily="34" charset="-120"/>
              </a:rPr>
              <a:t>Enterprise AI deployments fragment when each vendor's assistant becomes its own architectural anchor. PAHA establishes the architectural pattern for sovereignty-bounded AI: a durable meta-harness providing centralized governance, bounded execution, and substrate arbitration over fit-for-purpose consoles and composable agents.</a:t>
            </a:r>
            <a:endParaRPr lang="en-US" sz="1600" dirty="0"/>
          </a:p>
        </p:txBody>
      </p:sp>
      <p:sp>
        <p:nvSpPr>
          <p:cNvPr id="8" name="Text 6"/>
          <p:cNvSpPr/>
          <p:nvPr/>
        </p:nvSpPr>
        <p:spPr>
          <a:xfrm>
            <a:off x="548640" y="3703320"/>
            <a:ext cx="11064240" cy="914400"/>
          </a:xfrm>
          <a:prstGeom prst="rect">
            <a:avLst/>
          </a:prstGeom>
          <a:noFill/>
          <a:ln/>
        </p:spPr>
        <p:txBody>
          <a:bodyPr wrap="square" lIns="0" tIns="0" rIns="0" bIns="0" rtlCol="0" anchor="t"/>
          <a:lstStyle/>
          <a:p>
            <a:pPr algn="l" indent="0" marL="0">
              <a:buNone/>
            </a:pPr>
            <a:r>
              <a:rPr lang="en-US" sz="1600" dirty="0">
                <a:solidFill>
                  <a:srgbClr val="1A1A1A"/>
                </a:solidFill>
                <a:latin typeface="Calibri" pitchFamily="34" charset="0"/>
                <a:ea typeface="Calibri" pitchFamily="34" charset="-122"/>
                <a:cs typeface="Calibri" pitchFamily="34" charset="-120"/>
              </a:rPr>
              <a:t>Modus Primus is the engineering specification that establishes how an enterprise's engineering practice produces and maintains PAHA-conformant AI architectures. It addresses the engineering concerns general systems engineering does not fully cover: substrate volatility, behavioral non-determinism, federation across enclaves, and runtime assurance.</a:t>
            </a:r>
            <a:endParaRPr lang="en-US" sz="1600" dirty="0"/>
          </a:p>
        </p:txBody>
      </p:sp>
      <p:sp>
        <p:nvSpPr>
          <p:cNvPr id="9" name="Shape 7"/>
          <p:cNvSpPr/>
          <p:nvPr/>
        </p:nvSpPr>
        <p:spPr>
          <a:xfrm>
            <a:off x="548640" y="5074920"/>
            <a:ext cx="73152" cy="1005840"/>
          </a:xfrm>
          <a:prstGeom prst="rect">
            <a:avLst/>
          </a:prstGeom>
          <a:solidFill>
            <a:srgbClr val="8B2E2E"/>
          </a:solidFill>
          <a:ln w="12700">
            <a:solidFill>
              <a:srgbClr val="8B2E2E"/>
            </a:solidFill>
            <a:prstDash val="solid"/>
          </a:ln>
        </p:spPr>
      </p:sp>
      <p:sp>
        <p:nvSpPr>
          <p:cNvPr id="10" name="Text 8"/>
          <p:cNvSpPr/>
          <p:nvPr/>
        </p:nvSpPr>
        <p:spPr>
          <a:xfrm>
            <a:off x="822960" y="5074920"/>
            <a:ext cx="10789920" cy="1005840"/>
          </a:xfrm>
          <a:prstGeom prst="rect">
            <a:avLst/>
          </a:prstGeom>
          <a:noFill/>
          <a:ln/>
        </p:spPr>
        <p:txBody>
          <a:bodyPr wrap="square" lIns="0" tIns="0" rIns="0" bIns="0" rtlCol="0" anchor="ctr"/>
          <a:lstStyle/>
          <a:p>
            <a:pPr algn="l" indent="0" marL="0">
              <a:buNone/>
            </a:pPr>
            <a:r>
              <a:rPr lang="en-US" sz="1800" i="1" dirty="0">
                <a:solidFill>
                  <a:srgbClr val="1A1A1A"/>
                </a:solidFill>
                <a:latin typeface="Georgia" pitchFamily="34" charset="0"/>
                <a:ea typeface="Georgia" pitchFamily="34" charset="-122"/>
                <a:cs typeface="Georgia" pitchFamily="34" charset="-120"/>
              </a:rPr>
              <a:t>PAHA establishes what the architecture must achieve.  Modus Primus establishes how the enterprise's engineering practice produces it.</a:t>
            </a:r>
            <a:endParaRPr lang="en-US" sz="1800" dirty="0"/>
          </a:p>
        </p:txBody>
      </p:sp>
      <p:sp>
        <p:nvSpPr>
          <p:cNvPr id="11" name="Text 9"/>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02  ·  CONTEXT</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Why this matters now</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The pain Modus Primus addresses</a:t>
            </a:r>
            <a:endParaRPr lang="en-US" sz="1400" dirty="0"/>
          </a:p>
        </p:txBody>
      </p:sp>
      <p:sp>
        <p:nvSpPr>
          <p:cNvPr id="5" name="Shape 3"/>
          <p:cNvSpPr/>
          <p:nvPr/>
        </p:nvSpPr>
        <p:spPr>
          <a:xfrm>
            <a:off x="548640" y="2103120"/>
            <a:ext cx="5349240" cy="1828800"/>
          </a:xfrm>
          <a:prstGeom prst="rect">
            <a:avLst/>
          </a:prstGeom>
          <a:solidFill>
            <a:srgbClr val="F0EFEA"/>
          </a:solidFill>
          <a:ln w="6350">
            <a:solidFill>
              <a:srgbClr val="D8D6CE"/>
            </a:solidFill>
            <a:prstDash val="solid"/>
          </a:ln>
        </p:spPr>
      </p:sp>
      <p:sp>
        <p:nvSpPr>
          <p:cNvPr id="6" name="Shape 4"/>
          <p:cNvSpPr/>
          <p:nvPr/>
        </p:nvSpPr>
        <p:spPr>
          <a:xfrm>
            <a:off x="548640" y="2103120"/>
            <a:ext cx="457200" cy="36576"/>
          </a:xfrm>
          <a:prstGeom prst="rect">
            <a:avLst/>
          </a:prstGeom>
          <a:solidFill>
            <a:srgbClr val="8B2E2E"/>
          </a:solidFill>
          <a:ln w="12700">
            <a:solidFill>
              <a:srgbClr val="8B2E2E"/>
            </a:solidFill>
            <a:prstDash val="solid"/>
          </a:ln>
        </p:spPr>
      </p:sp>
      <p:sp>
        <p:nvSpPr>
          <p:cNvPr id="7" name="Text 5"/>
          <p:cNvSpPr/>
          <p:nvPr/>
        </p:nvSpPr>
        <p:spPr>
          <a:xfrm>
            <a:off x="777240" y="2286000"/>
            <a:ext cx="4892040" cy="365760"/>
          </a:xfrm>
          <a:prstGeom prst="rect">
            <a:avLst/>
          </a:prstGeom>
          <a:noFill/>
          <a:ln/>
        </p:spPr>
        <p:txBody>
          <a:bodyPr wrap="square" lIns="0" tIns="0" rIns="0" bIns="0" rtlCol="0" anchor="t"/>
          <a:lstStyle/>
          <a:p>
            <a:pPr algn="l" indent="0" marL="0">
              <a:buNone/>
            </a:pPr>
            <a:r>
              <a:rPr lang="en-US" sz="1500" b="1" dirty="0">
                <a:solidFill>
                  <a:srgbClr val="1A1A1A"/>
                </a:solidFill>
                <a:latin typeface="Georgia" pitchFamily="34" charset="0"/>
                <a:ea typeface="Georgia" pitchFamily="34" charset="-122"/>
                <a:cs typeface="Georgia" pitchFamily="34" charset="-120"/>
              </a:rPr>
              <a:t>Assistant-centric fragmentation</a:t>
            </a:r>
            <a:endParaRPr lang="en-US" sz="1500" dirty="0"/>
          </a:p>
        </p:txBody>
      </p:sp>
      <p:sp>
        <p:nvSpPr>
          <p:cNvPr id="8" name="Text 6"/>
          <p:cNvSpPr/>
          <p:nvPr/>
        </p:nvSpPr>
        <p:spPr>
          <a:xfrm>
            <a:off x="777240" y="2697480"/>
            <a:ext cx="4892040" cy="1097280"/>
          </a:xfrm>
          <a:prstGeom prst="rect">
            <a:avLst/>
          </a:prstGeom>
          <a:noFill/>
          <a:ln/>
        </p:spPr>
        <p:txBody>
          <a:bodyPr wrap="square" lIns="0" tIns="0" rIns="0" bIns="0" rtlCol="0" anchor="t"/>
          <a:lstStyle/>
          <a:p>
            <a:pPr algn="l" indent="0" marL="0">
              <a:buNone/>
            </a:pPr>
            <a:r>
              <a:rPr lang="en-US" sz="1100" dirty="0">
                <a:solidFill>
                  <a:srgbClr val="1A1A1A"/>
                </a:solidFill>
                <a:latin typeface="Calibri" pitchFamily="34" charset="0"/>
                <a:ea typeface="Calibri" pitchFamily="34" charset="-122"/>
                <a:cs typeface="Calibri" pitchFamily="34" charset="-120"/>
              </a:rPr>
              <a:t>Each vendor copilot (Microsoft 365 Copilot, AWS Bedrock, Cisco AI Canvas, ServiceNow Now Assist, program-specific assistants) carries its own identity, audit format, policy framework, and governance artifacts. The aggregate is fragmentation rather than capability.</a:t>
            </a:r>
            <a:endParaRPr lang="en-US" sz="1100" dirty="0"/>
          </a:p>
        </p:txBody>
      </p:sp>
      <p:sp>
        <p:nvSpPr>
          <p:cNvPr id="9" name="Shape 7"/>
          <p:cNvSpPr/>
          <p:nvPr/>
        </p:nvSpPr>
        <p:spPr>
          <a:xfrm>
            <a:off x="6263640" y="2103120"/>
            <a:ext cx="5349240" cy="1828800"/>
          </a:xfrm>
          <a:prstGeom prst="rect">
            <a:avLst/>
          </a:prstGeom>
          <a:solidFill>
            <a:srgbClr val="F0EFEA"/>
          </a:solidFill>
          <a:ln w="6350">
            <a:solidFill>
              <a:srgbClr val="D8D6CE"/>
            </a:solidFill>
            <a:prstDash val="solid"/>
          </a:ln>
        </p:spPr>
      </p:sp>
      <p:sp>
        <p:nvSpPr>
          <p:cNvPr id="10" name="Shape 8"/>
          <p:cNvSpPr/>
          <p:nvPr/>
        </p:nvSpPr>
        <p:spPr>
          <a:xfrm>
            <a:off x="6263640" y="2103120"/>
            <a:ext cx="457200" cy="36576"/>
          </a:xfrm>
          <a:prstGeom prst="rect">
            <a:avLst/>
          </a:prstGeom>
          <a:solidFill>
            <a:srgbClr val="8B2E2E"/>
          </a:solidFill>
          <a:ln w="12700">
            <a:solidFill>
              <a:srgbClr val="8B2E2E"/>
            </a:solidFill>
            <a:prstDash val="solid"/>
          </a:ln>
        </p:spPr>
      </p:sp>
      <p:sp>
        <p:nvSpPr>
          <p:cNvPr id="11" name="Text 9"/>
          <p:cNvSpPr/>
          <p:nvPr/>
        </p:nvSpPr>
        <p:spPr>
          <a:xfrm>
            <a:off x="6492240" y="2286000"/>
            <a:ext cx="4892040" cy="365760"/>
          </a:xfrm>
          <a:prstGeom prst="rect">
            <a:avLst/>
          </a:prstGeom>
          <a:noFill/>
          <a:ln/>
        </p:spPr>
        <p:txBody>
          <a:bodyPr wrap="square" lIns="0" tIns="0" rIns="0" bIns="0" rtlCol="0" anchor="t"/>
          <a:lstStyle/>
          <a:p>
            <a:pPr algn="l" indent="0" marL="0">
              <a:buNone/>
            </a:pPr>
            <a:r>
              <a:rPr lang="en-US" sz="1500" b="1" dirty="0">
                <a:solidFill>
                  <a:srgbClr val="1A1A1A"/>
                </a:solidFill>
                <a:latin typeface="Georgia" pitchFamily="34" charset="0"/>
                <a:ea typeface="Georgia" pitchFamily="34" charset="-122"/>
                <a:cs typeface="Georgia" pitchFamily="34" charset="-120"/>
              </a:rPr>
              <a:t>Governance bolted on after</a:t>
            </a:r>
            <a:endParaRPr lang="en-US" sz="1500" dirty="0"/>
          </a:p>
        </p:txBody>
      </p:sp>
      <p:sp>
        <p:nvSpPr>
          <p:cNvPr id="12" name="Text 10"/>
          <p:cNvSpPr/>
          <p:nvPr/>
        </p:nvSpPr>
        <p:spPr>
          <a:xfrm>
            <a:off x="6492240" y="2697480"/>
            <a:ext cx="4892040" cy="1097280"/>
          </a:xfrm>
          <a:prstGeom prst="rect">
            <a:avLst/>
          </a:prstGeom>
          <a:noFill/>
          <a:ln/>
        </p:spPr>
        <p:txBody>
          <a:bodyPr wrap="square" lIns="0" tIns="0" rIns="0" bIns="0" rtlCol="0" anchor="t"/>
          <a:lstStyle/>
          <a:p>
            <a:pPr algn="l" indent="0" marL="0">
              <a:buNone/>
            </a:pPr>
            <a:r>
              <a:rPr lang="en-US" sz="1100" dirty="0">
                <a:solidFill>
                  <a:srgbClr val="1A1A1A"/>
                </a:solidFill>
                <a:latin typeface="Calibri" pitchFamily="34" charset="0"/>
                <a:ea typeface="Calibri" pitchFamily="34" charset="-122"/>
                <a:cs typeface="Calibri" pitchFamily="34" charset="-120"/>
              </a:rPr>
              <a:t>Without a durable architectural layer, governance is retrofitted onto whichever assistant arrived first. Trust escalation, audit traceability, and policy enforcement become per-vendor configurations rather than architectural commitments.</a:t>
            </a:r>
            <a:endParaRPr lang="en-US" sz="1100" dirty="0"/>
          </a:p>
        </p:txBody>
      </p:sp>
      <p:sp>
        <p:nvSpPr>
          <p:cNvPr id="13" name="Shape 11"/>
          <p:cNvSpPr/>
          <p:nvPr/>
        </p:nvSpPr>
        <p:spPr>
          <a:xfrm>
            <a:off x="548640" y="4114800"/>
            <a:ext cx="5349240" cy="1828800"/>
          </a:xfrm>
          <a:prstGeom prst="rect">
            <a:avLst/>
          </a:prstGeom>
          <a:solidFill>
            <a:srgbClr val="F0EFEA"/>
          </a:solidFill>
          <a:ln w="6350">
            <a:solidFill>
              <a:srgbClr val="D8D6CE"/>
            </a:solidFill>
            <a:prstDash val="solid"/>
          </a:ln>
        </p:spPr>
      </p:sp>
      <p:sp>
        <p:nvSpPr>
          <p:cNvPr id="14" name="Shape 12"/>
          <p:cNvSpPr/>
          <p:nvPr/>
        </p:nvSpPr>
        <p:spPr>
          <a:xfrm>
            <a:off x="548640" y="4114800"/>
            <a:ext cx="457200" cy="36576"/>
          </a:xfrm>
          <a:prstGeom prst="rect">
            <a:avLst/>
          </a:prstGeom>
          <a:solidFill>
            <a:srgbClr val="8B2E2E"/>
          </a:solidFill>
          <a:ln w="12700">
            <a:solidFill>
              <a:srgbClr val="8B2E2E"/>
            </a:solidFill>
            <a:prstDash val="solid"/>
          </a:ln>
        </p:spPr>
      </p:sp>
      <p:sp>
        <p:nvSpPr>
          <p:cNvPr id="15" name="Text 13"/>
          <p:cNvSpPr/>
          <p:nvPr/>
        </p:nvSpPr>
        <p:spPr>
          <a:xfrm>
            <a:off x="777240" y="4297680"/>
            <a:ext cx="4892040" cy="365760"/>
          </a:xfrm>
          <a:prstGeom prst="rect">
            <a:avLst/>
          </a:prstGeom>
          <a:noFill/>
          <a:ln/>
        </p:spPr>
        <p:txBody>
          <a:bodyPr wrap="square" lIns="0" tIns="0" rIns="0" bIns="0" rtlCol="0" anchor="t"/>
          <a:lstStyle/>
          <a:p>
            <a:pPr algn="l" indent="0" marL="0">
              <a:buNone/>
            </a:pPr>
            <a:r>
              <a:rPr lang="en-US" sz="1500" b="1" dirty="0">
                <a:solidFill>
                  <a:srgbClr val="1A1A1A"/>
                </a:solidFill>
                <a:latin typeface="Georgia" pitchFamily="34" charset="0"/>
                <a:ea typeface="Georgia" pitchFamily="34" charset="-122"/>
                <a:cs typeface="Georgia" pitchFamily="34" charset="-120"/>
              </a:rPr>
              <a:t>Sovereignty constraints unaddressed</a:t>
            </a:r>
            <a:endParaRPr lang="en-US" sz="1500" dirty="0"/>
          </a:p>
        </p:txBody>
      </p:sp>
      <p:sp>
        <p:nvSpPr>
          <p:cNvPr id="16" name="Text 14"/>
          <p:cNvSpPr/>
          <p:nvPr/>
        </p:nvSpPr>
        <p:spPr>
          <a:xfrm>
            <a:off x="777240" y="4709160"/>
            <a:ext cx="4892040" cy="1097280"/>
          </a:xfrm>
          <a:prstGeom prst="rect">
            <a:avLst/>
          </a:prstGeom>
          <a:noFill/>
          <a:ln/>
        </p:spPr>
        <p:txBody>
          <a:bodyPr wrap="square" lIns="0" tIns="0" rIns="0" bIns="0" rtlCol="0" anchor="t"/>
          <a:lstStyle/>
          <a:p>
            <a:pPr algn="l" indent="0" marL="0">
              <a:buNone/>
            </a:pPr>
            <a:r>
              <a:rPr lang="en-US" sz="1100" dirty="0">
                <a:solidFill>
                  <a:srgbClr val="1A1A1A"/>
                </a:solidFill>
                <a:latin typeface="Calibri" pitchFamily="34" charset="0"/>
                <a:ea typeface="Calibri" pitchFamily="34" charset="-122"/>
                <a:cs typeface="Calibri" pitchFamily="34" charset="-120"/>
              </a:rPr>
              <a:t>Defense IT, regulated industries, and multi-enclave environments require federation patterns that vendor-integrated orchestration cannot provide. ITAR, FedRAMP, CMMC, and classified network segmentation force enclave-bound architectures that current AI deployments do not anticipate.</a:t>
            </a:r>
            <a:endParaRPr lang="en-US" sz="1100" dirty="0"/>
          </a:p>
        </p:txBody>
      </p:sp>
      <p:sp>
        <p:nvSpPr>
          <p:cNvPr id="17" name="Shape 15"/>
          <p:cNvSpPr/>
          <p:nvPr/>
        </p:nvSpPr>
        <p:spPr>
          <a:xfrm>
            <a:off x="6263640" y="4114800"/>
            <a:ext cx="5349240" cy="1828800"/>
          </a:xfrm>
          <a:prstGeom prst="rect">
            <a:avLst/>
          </a:prstGeom>
          <a:solidFill>
            <a:srgbClr val="F0EFEA"/>
          </a:solidFill>
          <a:ln w="6350">
            <a:solidFill>
              <a:srgbClr val="D8D6CE"/>
            </a:solidFill>
            <a:prstDash val="solid"/>
          </a:ln>
        </p:spPr>
      </p:sp>
      <p:sp>
        <p:nvSpPr>
          <p:cNvPr id="18" name="Shape 16"/>
          <p:cNvSpPr/>
          <p:nvPr/>
        </p:nvSpPr>
        <p:spPr>
          <a:xfrm>
            <a:off x="6263640" y="4114800"/>
            <a:ext cx="457200" cy="36576"/>
          </a:xfrm>
          <a:prstGeom prst="rect">
            <a:avLst/>
          </a:prstGeom>
          <a:solidFill>
            <a:srgbClr val="8B2E2E"/>
          </a:solidFill>
          <a:ln w="12700">
            <a:solidFill>
              <a:srgbClr val="8B2E2E"/>
            </a:solidFill>
            <a:prstDash val="solid"/>
          </a:ln>
        </p:spPr>
      </p:sp>
      <p:sp>
        <p:nvSpPr>
          <p:cNvPr id="19" name="Text 17"/>
          <p:cNvSpPr/>
          <p:nvPr/>
        </p:nvSpPr>
        <p:spPr>
          <a:xfrm>
            <a:off x="6492240" y="4297680"/>
            <a:ext cx="4892040" cy="365760"/>
          </a:xfrm>
          <a:prstGeom prst="rect">
            <a:avLst/>
          </a:prstGeom>
          <a:noFill/>
          <a:ln/>
        </p:spPr>
        <p:txBody>
          <a:bodyPr wrap="square" lIns="0" tIns="0" rIns="0" bIns="0" rtlCol="0" anchor="t"/>
          <a:lstStyle/>
          <a:p>
            <a:pPr algn="l" indent="0" marL="0">
              <a:buNone/>
            </a:pPr>
            <a:r>
              <a:rPr lang="en-US" sz="1500" b="1" dirty="0">
                <a:solidFill>
                  <a:srgbClr val="1A1A1A"/>
                </a:solidFill>
                <a:latin typeface="Georgia" pitchFamily="34" charset="0"/>
                <a:ea typeface="Georgia" pitchFamily="34" charset="-122"/>
                <a:cs typeface="Georgia" pitchFamily="34" charset="-120"/>
              </a:rPr>
              <a:t>No shared engineering practice</a:t>
            </a:r>
            <a:endParaRPr lang="en-US" sz="1500" dirty="0"/>
          </a:p>
        </p:txBody>
      </p:sp>
      <p:sp>
        <p:nvSpPr>
          <p:cNvPr id="20" name="Text 18"/>
          <p:cNvSpPr/>
          <p:nvPr/>
        </p:nvSpPr>
        <p:spPr>
          <a:xfrm>
            <a:off x="6492240" y="4709160"/>
            <a:ext cx="4892040" cy="1097280"/>
          </a:xfrm>
          <a:prstGeom prst="rect">
            <a:avLst/>
          </a:prstGeom>
          <a:noFill/>
          <a:ln/>
        </p:spPr>
        <p:txBody>
          <a:bodyPr wrap="square" lIns="0" tIns="0" rIns="0" bIns="0" rtlCol="0" anchor="t"/>
          <a:lstStyle/>
          <a:p>
            <a:pPr algn="l" indent="0" marL="0">
              <a:buNone/>
            </a:pPr>
            <a:r>
              <a:rPr lang="en-US" sz="1100" dirty="0">
                <a:solidFill>
                  <a:srgbClr val="1A1A1A"/>
                </a:solidFill>
                <a:latin typeface="Calibri" pitchFamily="34" charset="0"/>
                <a:ea typeface="Calibri" pitchFamily="34" charset="-122"/>
                <a:cs typeface="Calibri" pitchFamily="34" charset="-120"/>
              </a:rPr>
              <a:t>Programs reinvent agent contracts, V&amp;V approaches, and runtime assurance for each AI capability. Without a specification, lessons learned do not transfer; without transfer, the enterprise pays the substrate-volatility cost repeatedly.</a:t>
            </a:r>
            <a:endParaRPr lang="en-US" sz="1100" dirty="0"/>
          </a:p>
        </p:txBody>
      </p:sp>
      <p:sp>
        <p:nvSpPr>
          <p:cNvPr id="21" name="Text 19"/>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03  ·  COMPANION RELATIONSHIP</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PAHA and Modus Primus are a pair.</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Two documents, one framework</a:t>
            </a:r>
            <a:endParaRPr lang="en-US" sz="1400" dirty="0"/>
          </a:p>
        </p:txBody>
      </p:sp>
      <p:sp>
        <p:nvSpPr>
          <p:cNvPr id="5" name="Shape 3"/>
          <p:cNvSpPr/>
          <p:nvPr/>
        </p:nvSpPr>
        <p:spPr>
          <a:xfrm>
            <a:off x="548640" y="2194560"/>
            <a:ext cx="5257800" cy="3474720"/>
          </a:xfrm>
          <a:prstGeom prst="rect">
            <a:avLst/>
          </a:prstGeom>
          <a:solidFill>
            <a:srgbClr val="F0EFEA"/>
          </a:solidFill>
          <a:ln w="6350">
            <a:solidFill>
              <a:srgbClr val="D8D6CE"/>
            </a:solidFill>
            <a:prstDash val="solid"/>
          </a:ln>
        </p:spPr>
      </p:sp>
      <p:sp>
        <p:nvSpPr>
          <p:cNvPr id="6" name="Shape 4"/>
          <p:cNvSpPr/>
          <p:nvPr/>
        </p:nvSpPr>
        <p:spPr>
          <a:xfrm>
            <a:off x="548640" y="2194560"/>
            <a:ext cx="5257800" cy="54864"/>
          </a:xfrm>
          <a:prstGeom prst="rect">
            <a:avLst/>
          </a:prstGeom>
          <a:solidFill>
            <a:srgbClr val="8B2E2E"/>
          </a:solidFill>
          <a:ln w="12700">
            <a:solidFill>
              <a:srgbClr val="8B2E2E"/>
            </a:solidFill>
            <a:prstDash val="solid"/>
          </a:ln>
        </p:spPr>
      </p:sp>
      <p:sp>
        <p:nvSpPr>
          <p:cNvPr id="7" name="Text 5"/>
          <p:cNvSpPr/>
          <p:nvPr/>
        </p:nvSpPr>
        <p:spPr>
          <a:xfrm>
            <a:off x="822960" y="2423160"/>
            <a:ext cx="4709160" cy="320040"/>
          </a:xfrm>
          <a:prstGeom prst="rect">
            <a:avLst/>
          </a:prstGeom>
          <a:noFill/>
          <a:ln/>
        </p:spPr>
        <p:txBody>
          <a:bodyPr wrap="square" lIns="0" tIns="0" rIns="0" bIns="0" rtlCol="0" anchor="ctr"/>
          <a:lstStyle/>
          <a:p>
            <a:pPr indent="0" marL="0">
              <a:buNone/>
            </a:pPr>
            <a:r>
              <a:rPr lang="en-US" sz="1000" b="1" spc="200" kern="0" dirty="0">
                <a:solidFill>
                  <a:srgbClr val="8B2E2E"/>
                </a:solidFill>
                <a:latin typeface="Calibri" pitchFamily="34" charset="0"/>
                <a:ea typeface="Calibri" pitchFamily="34" charset="-122"/>
                <a:cs typeface="Calibri" pitchFamily="34" charset="-120"/>
              </a:rPr>
              <a:t>PAHA  ·  Architectural Pattern</a:t>
            </a:r>
            <a:endParaRPr lang="en-US" sz="1000" dirty="0"/>
          </a:p>
        </p:txBody>
      </p:sp>
      <p:sp>
        <p:nvSpPr>
          <p:cNvPr id="8" name="Text 6"/>
          <p:cNvSpPr/>
          <p:nvPr/>
        </p:nvSpPr>
        <p:spPr>
          <a:xfrm>
            <a:off x="822960" y="2743200"/>
            <a:ext cx="4709160" cy="41148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Portable Agent Harness Architecture</a:t>
            </a:r>
            <a:endParaRPr lang="en-US" sz="1800" dirty="0"/>
          </a:p>
        </p:txBody>
      </p:sp>
      <p:sp>
        <p:nvSpPr>
          <p:cNvPr id="9" name="Text 7"/>
          <p:cNvSpPr/>
          <p:nvPr/>
        </p:nvSpPr>
        <p:spPr>
          <a:xfrm>
            <a:off x="822960" y="3291840"/>
            <a:ext cx="4709160" cy="1828800"/>
          </a:xfrm>
          <a:prstGeom prst="rect">
            <a:avLst/>
          </a:prstGeom>
          <a:noFill/>
          <a:ln/>
        </p:spPr>
        <p:txBody>
          <a:bodyPr wrap="square" lIns="0" tIns="0" rIns="0" bIns="0" rtlCol="0" anchor="t"/>
          <a:lstStyle/>
          <a:p>
            <a:pPr algn="l" indent="0" marL="0">
              <a:spcAft>
                <a:spcPts val="600"/>
              </a:spcAft>
              <a:buNone/>
            </a:pPr>
            <a:r>
              <a:rPr lang="en-US" sz="1200" i="1" dirty="0">
                <a:solidFill>
                  <a:srgbClr val="1A1A1A"/>
                </a:solidFill>
                <a:latin typeface="Calibri" pitchFamily="34" charset="0"/>
                <a:ea typeface="Calibri" pitchFamily="34" charset="-122"/>
                <a:cs typeface="Calibri" pitchFamily="34" charset="-120"/>
              </a:rPr>
              <a:t>What the architecture must achieve.</a:t>
            </a:r>
            <a:endParaRPr lang="en-US" sz="1200" dirty="0"/>
          </a:p>
          <a:p>
            <a:pPr algn="l" indent="0" marL="0">
              <a:spcAft>
                <a:spcPts val="600"/>
              </a:spcAft>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algn="l" indent="0" marL="0">
              <a:spcAft>
                <a:spcPts val="600"/>
              </a:spcAft>
              <a:buNone/>
            </a:pPr>
            <a:r>
              <a:rPr lang="en-US" sz="1200" dirty="0">
                <a:solidFill>
                  <a:srgbClr val="1A1A1A"/>
                </a:solidFill>
                <a:latin typeface="Calibri" pitchFamily="34" charset="0"/>
                <a:ea typeface="Calibri" pitchFamily="34" charset="-122"/>
                <a:cs typeface="Calibri" pitchFamily="34" charset="-120"/>
              </a:rPr>
              <a:t>Three architectural planes (governance, cognitive, operational). Seven minimum viable harness services. Enclave constraint. Capability registry with purposive election. Trust escalation as a governance primitive. Substrate adapter abstraction.</a:t>
            </a:r>
            <a:endParaRPr lang="en-US" sz="1200" dirty="0"/>
          </a:p>
        </p:txBody>
      </p:sp>
      <p:sp>
        <p:nvSpPr>
          <p:cNvPr id="10" name="Text 8"/>
          <p:cNvSpPr/>
          <p:nvPr/>
        </p:nvSpPr>
        <p:spPr>
          <a:xfrm>
            <a:off x="822960" y="5212080"/>
            <a:ext cx="4709160" cy="274320"/>
          </a:xfrm>
          <a:prstGeom prst="rect">
            <a:avLst/>
          </a:prstGeom>
          <a:noFill/>
          <a:ln/>
        </p:spPr>
        <p:txBody>
          <a:bodyPr wrap="square" lIns="0" tIns="0" rIns="0" bIns="0" rtlCol="0" anchor="ctr"/>
          <a:lstStyle/>
          <a:p>
            <a:pPr indent="0" marL="0">
              <a:buNone/>
            </a:pPr>
            <a:r>
              <a:rPr lang="en-US" sz="1100" i="1" dirty="0">
                <a:solidFill>
                  <a:srgbClr val="8B2E2E"/>
                </a:solidFill>
                <a:latin typeface="Consolas" pitchFamily="34" charset="0"/>
                <a:ea typeface="Consolas" pitchFamily="34" charset="-122"/>
                <a:cs typeface="Consolas" pitchFamily="34" charset="-120"/>
              </a:rPr>
              <a:t>doi:10.5281/zenodo.20112631</a:t>
            </a:r>
            <a:endParaRPr lang="en-US" sz="1100" dirty="0"/>
          </a:p>
        </p:txBody>
      </p:sp>
      <p:sp>
        <p:nvSpPr>
          <p:cNvPr id="11" name="Text 9"/>
          <p:cNvSpPr/>
          <p:nvPr/>
        </p:nvSpPr>
        <p:spPr>
          <a:xfrm>
            <a:off x="5852160" y="3611880"/>
            <a:ext cx="457200" cy="640080"/>
          </a:xfrm>
          <a:prstGeom prst="rect">
            <a:avLst/>
          </a:prstGeom>
          <a:noFill/>
          <a:ln/>
        </p:spPr>
        <p:txBody>
          <a:bodyPr wrap="square" lIns="0" tIns="0" rIns="0" bIns="0" rtlCol="0" anchor="ctr"/>
          <a:lstStyle/>
          <a:p>
            <a:pPr algn="ctr" indent="0" marL="0">
              <a:buNone/>
            </a:pPr>
            <a:r>
              <a:rPr lang="en-US" sz="3200" b="1" dirty="0">
                <a:solidFill>
                  <a:srgbClr val="8B2E2E"/>
                </a:solidFill>
                <a:latin typeface="Georgia" pitchFamily="34" charset="0"/>
                <a:ea typeface="Georgia" pitchFamily="34" charset="-122"/>
                <a:cs typeface="Georgia" pitchFamily="34" charset="-120"/>
              </a:rPr>
              <a:t>→</a:t>
            </a:r>
            <a:endParaRPr lang="en-US" sz="3200" dirty="0"/>
          </a:p>
        </p:txBody>
      </p:sp>
      <p:sp>
        <p:nvSpPr>
          <p:cNvPr id="12" name="Shape 10"/>
          <p:cNvSpPr/>
          <p:nvPr/>
        </p:nvSpPr>
        <p:spPr>
          <a:xfrm>
            <a:off x="6355080" y="2194560"/>
            <a:ext cx="5257800" cy="3474720"/>
          </a:xfrm>
          <a:prstGeom prst="rect">
            <a:avLst/>
          </a:prstGeom>
          <a:solidFill>
            <a:srgbClr val="F0EFEA"/>
          </a:solidFill>
          <a:ln w="6350">
            <a:solidFill>
              <a:srgbClr val="D8D6CE"/>
            </a:solidFill>
            <a:prstDash val="solid"/>
          </a:ln>
        </p:spPr>
      </p:sp>
      <p:sp>
        <p:nvSpPr>
          <p:cNvPr id="13" name="Shape 11"/>
          <p:cNvSpPr/>
          <p:nvPr/>
        </p:nvSpPr>
        <p:spPr>
          <a:xfrm>
            <a:off x="6355080" y="2194560"/>
            <a:ext cx="5257800" cy="54864"/>
          </a:xfrm>
          <a:prstGeom prst="rect">
            <a:avLst/>
          </a:prstGeom>
          <a:solidFill>
            <a:srgbClr val="8B2E2E"/>
          </a:solidFill>
          <a:ln w="12700">
            <a:solidFill>
              <a:srgbClr val="8B2E2E"/>
            </a:solidFill>
            <a:prstDash val="solid"/>
          </a:ln>
        </p:spPr>
      </p:sp>
      <p:sp>
        <p:nvSpPr>
          <p:cNvPr id="14" name="Text 12"/>
          <p:cNvSpPr/>
          <p:nvPr/>
        </p:nvSpPr>
        <p:spPr>
          <a:xfrm>
            <a:off x="6629400" y="2423160"/>
            <a:ext cx="4709160" cy="320040"/>
          </a:xfrm>
          <a:prstGeom prst="rect">
            <a:avLst/>
          </a:prstGeom>
          <a:noFill/>
          <a:ln/>
        </p:spPr>
        <p:txBody>
          <a:bodyPr wrap="square" lIns="0" tIns="0" rIns="0" bIns="0" rtlCol="0" anchor="ctr"/>
          <a:lstStyle/>
          <a:p>
            <a:pPr indent="0" marL="0">
              <a:buNone/>
            </a:pPr>
            <a:r>
              <a:rPr lang="en-US" sz="1000" b="1" spc="200" kern="0" dirty="0">
                <a:solidFill>
                  <a:srgbClr val="8B2E2E"/>
                </a:solidFill>
                <a:latin typeface="Calibri" pitchFamily="34" charset="0"/>
                <a:ea typeface="Calibri" pitchFamily="34" charset="-122"/>
                <a:cs typeface="Calibri" pitchFamily="34" charset="-120"/>
              </a:rPr>
              <a:t>MODUS PRIMUS  ·  Engineering Practice</a:t>
            </a:r>
            <a:endParaRPr lang="en-US" sz="1000" dirty="0"/>
          </a:p>
        </p:txBody>
      </p:sp>
      <p:sp>
        <p:nvSpPr>
          <p:cNvPr id="15" name="Text 13"/>
          <p:cNvSpPr/>
          <p:nvPr/>
        </p:nvSpPr>
        <p:spPr>
          <a:xfrm>
            <a:off x="6629400" y="2743200"/>
            <a:ext cx="4709160" cy="41148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Engineering Specification for AI Architecture</a:t>
            </a:r>
            <a:endParaRPr lang="en-US" sz="1800" dirty="0"/>
          </a:p>
        </p:txBody>
      </p:sp>
      <p:sp>
        <p:nvSpPr>
          <p:cNvPr id="16" name="Text 14"/>
          <p:cNvSpPr/>
          <p:nvPr/>
        </p:nvSpPr>
        <p:spPr>
          <a:xfrm>
            <a:off x="6629400" y="3291840"/>
            <a:ext cx="4709160" cy="1828800"/>
          </a:xfrm>
          <a:prstGeom prst="rect">
            <a:avLst/>
          </a:prstGeom>
          <a:noFill/>
          <a:ln/>
        </p:spPr>
        <p:txBody>
          <a:bodyPr wrap="square" lIns="0" tIns="0" rIns="0" bIns="0" rtlCol="0" anchor="t"/>
          <a:lstStyle/>
          <a:p>
            <a:pPr algn="l" indent="0" marL="0">
              <a:spcAft>
                <a:spcPts val="600"/>
              </a:spcAft>
              <a:buNone/>
            </a:pPr>
            <a:r>
              <a:rPr lang="en-US" sz="1200" i="1" dirty="0">
                <a:solidFill>
                  <a:srgbClr val="1A1A1A"/>
                </a:solidFill>
                <a:latin typeface="Calibri" pitchFamily="34" charset="0"/>
                <a:ea typeface="Calibri" pitchFamily="34" charset="-122"/>
                <a:cs typeface="Calibri" pitchFamily="34" charset="-120"/>
              </a:rPr>
              <a:t>How the engineering practice produces it.</a:t>
            </a:r>
            <a:endParaRPr lang="en-US" sz="1200" dirty="0"/>
          </a:p>
          <a:p>
            <a:pPr algn="l" indent="0" marL="0">
              <a:spcAft>
                <a:spcPts val="600"/>
              </a:spcAft>
              <a:buNone/>
            </a:pPr>
            <a:r>
              <a:rPr lang="en-US" sz="1200" dirty="0">
                <a:solidFill>
                  <a:srgbClr val="000000"/>
                </a:solidFill>
                <a:latin typeface="Calibri" pitchFamily="34" charset="0"/>
                <a:ea typeface="Calibri" pitchFamily="34" charset="-122"/>
                <a:cs typeface="Calibri" pitchFamily="34" charset="-120"/>
              </a:rPr>
              <a:t> </a:t>
            </a:r>
            <a:endParaRPr lang="en-US" sz="1200" dirty="0"/>
          </a:p>
          <a:p>
            <a:pPr algn="l" indent="0" marL="0">
              <a:spcAft>
                <a:spcPts val="600"/>
              </a:spcAft>
              <a:buNone/>
            </a:pPr>
            <a:r>
              <a:rPr lang="en-US" sz="1200" dirty="0">
                <a:solidFill>
                  <a:srgbClr val="1A1A1A"/>
                </a:solidFill>
                <a:latin typeface="Calibri" pitchFamily="34" charset="0"/>
                <a:ea typeface="Calibri" pitchFamily="34" charset="-122"/>
                <a:cs typeface="Calibri" pitchFamily="34" charset="-120"/>
              </a:rPr>
              <a:t>Architectural principles. Work breakdown structure for a Modus Primus instance. Five-tier federation model. Four V&amp;V instruments. Seven technical review gates. Per-enclave tech baseline pattern. Engineering specializations for substrate volatility and runtime assurance.</a:t>
            </a:r>
            <a:endParaRPr lang="en-US" sz="1200" dirty="0"/>
          </a:p>
        </p:txBody>
      </p:sp>
      <p:sp>
        <p:nvSpPr>
          <p:cNvPr id="17" name="Text 15"/>
          <p:cNvSpPr/>
          <p:nvPr/>
        </p:nvSpPr>
        <p:spPr>
          <a:xfrm>
            <a:off x="6629400" y="5212080"/>
            <a:ext cx="4709160" cy="274320"/>
          </a:xfrm>
          <a:prstGeom prst="rect">
            <a:avLst/>
          </a:prstGeom>
          <a:noFill/>
          <a:ln/>
        </p:spPr>
        <p:txBody>
          <a:bodyPr wrap="square" lIns="0" tIns="0" rIns="0" bIns="0" rtlCol="0" anchor="ctr"/>
          <a:lstStyle/>
          <a:p>
            <a:pPr indent="0" marL="0">
              <a:buNone/>
            </a:pPr>
            <a:r>
              <a:rPr lang="en-US" sz="1100" i="1" dirty="0">
                <a:solidFill>
                  <a:srgbClr val="8B2E2E"/>
                </a:solidFill>
                <a:latin typeface="Consolas" pitchFamily="34" charset="0"/>
                <a:ea typeface="Consolas" pitchFamily="34" charset="-122"/>
                <a:cs typeface="Consolas" pitchFamily="34" charset="-120"/>
              </a:rPr>
              <a:t>doi:10.5281/zenodo.20113785</a:t>
            </a:r>
            <a:endParaRPr lang="en-US" sz="1100" dirty="0"/>
          </a:p>
        </p:txBody>
      </p:sp>
      <p:sp>
        <p:nvSpPr>
          <p:cNvPr id="18" name="Text 16"/>
          <p:cNvSpPr/>
          <p:nvPr/>
        </p:nvSpPr>
        <p:spPr>
          <a:xfrm>
            <a:off x="548640" y="5852160"/>
            <a:ext cx="11064240" cy="457200"/>
          </a:xfrm>
          <a:prstGeom prst="rect">
            <a:avLst/>
          </a:prstGeom>
          <a:noFill/>
          <a:ln/>
        </p:spPr>
        <p:txBody>
          <a:bodyPr wrap="square" lIns="0" tIns="0" rIns="0" bIns="0" rtlCol="0" anchor="ctr"/>
          <a:lstStyle/>
          <a:p>
            <a:pPr algn="ctr" indent="0" marL="0">
              <a:buNone/>
            </a:pPr>
            <a:r>
              <a:rPr lang="en-US" sz="1100" i="1" dirty="0">
                <a:solidFill>
                  <a:srgbClr val="6B6B6B"/>
                </a:solidFill>
                <a:latin typeface="Calibri" pitchFamily="34" charset="0"/>
                <a:ea typeface="Calibri" pitchFamily="34" charset="-122"/>
                <a:cs typeface="Calibri" pitchFamily="34" charset="-120"/>
              </a:rPr>
              <a:t>PAHA changes may require Modus revisions; Modus changes never require PAHA revisions. Where they appear in tension, PAHA's architectural commitments take precedence.</a:t>
            </a:r>
            <a:endParaRPr lang="en-US" sz="1100" dirty="0"/>
          </a:p>
        </p:txBody>
      </p:sp>
      <p:sp>
        <p:nvSpPr>
          <p:cNvPr id="19" name="Text 17"/>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04  ·  ARCHITECTURAL PRINCIPLE</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Means versus mechanisms</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A tool is not part of the system's disposition until purposively elected.</a:t>
            </a:r>
            <a:endParaRPr lang="en-US" sz="1400" dirty="0"/>
          </a:p>
        </p:txBody>
      </p:sp>
      <p:sp>
        <p:nvSpPr>
          <p:cNvPr id="5" name="Text 3"/>
          <p:cNvSpPr/>
          <p:nvPr/>
        </p:nvSpPr>
        <p:spPr>
          <a:xfrm>
            <a:off x="548640" y="2103120"/>
            <a:ext cx="4572000" cy="4114800"/>
          </a:xfrm>
          <a:prstGeom prst="rect">
            <a:avLst/>
          </a:prstGeom>
          <a:noFill/>
          <a:ln/>
        </p:spPr>
        <p:txBody>
          <a:bodyPr wrap="square" lIns="0" tIns="0" rIns="0" bIns="0" rtlCol="0" anchor="t"/>
          <a:lstStyle/>
          <a:p>
            <a:pPr algn="l" indent="0" marL="0">
              <a:spcAft>
                <a:spcPts val="400"/>
              </a:spcAft>
              <a:buNone/>
            </a:pPr>
            <a:r>
              <a:rPr lang="en-US" sz="1300" b="1" dirty="0">
                <a:solidFill>
                  <a:srgbClr val="1A1A1A"/>
                </a:solidFill>
                <a:latin typeface="Calibri" pitchFamily="34" charset="0"/>
                <a:ea typeface="Calibri" pitchFamily="34" charset="-122"/>
                <a:cs typeface="Calibri" pitchFamily="34" charset="-120"/>
              </a:rPr>
              <a:t>A means is purposive.</a:t>
            </a:r>
            <a:endParaRPr lang="en-US" sz="1300" dirty="0"/>
          </a:p>
          <a:p>
            <a:pPr algn="l" indent="0" marL="0">
              <a:spcAft>
                <a:spcPts val="400"/>
              </a:spcAft>
              <a:buNone/>
            </a:pPr>
            <a:r>
              <a:rPr lang="en-US" sz="1300" dirty="0">
                <a:solidFill>
                  <a:srgbClr val="1A1A1A"/>
                </a:solidFill>
                <a:latin typeface="Calibri" pitchFamily="34" charset="0"/>
                <a:ea typeface="Calibri" pitchFamily="34" charset="-122"/>
                <a:cs typeface="Calibri" pitchFamily="34" charset="-120"/>
              </a:rPr>
              <a:t>What the system uses toward its mission within its morals. Means carry teleological weight: their existence is justified by what they advance.</a:t>
            </a:r>
            <a:endParaRPr lang="en-US" sz="1300" dirty="0"/>
          </a:p>
          <a:p>
            <a:pPr algn="l" indent="0" marL="0">
              <a:spcAft>
                <a:spcPts val="400"/>
              </a:spcAft>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algn="l" indent="0" marL="0">
              <a:spcAft>
                <a:spcPts val="400"/>
              </a:spcAft>
              <a:buNone/>
            </a:pPr>
            <a:r>
              <a:rPr lang="en-US" sz="1300" b="1" dirty="0">
                <a:solidFill>
                  <a:srgbClr val="1A1A1A"/>
                </a:solidFill>
                <a:latin typeface="Calibri" pitchFamily="34" charset="0"/>
                <a:ea typeface="Calibri" pitchFamily="34" charset="-122"/>
                <a:cs typeface="Calibri" pitchFamily="34" charset="-120"/>
              </a:rPr>
              <a:t>A mechanism is operationally agnostic.</a:t>
            </a:r>
            <a:endParaRPr lang="en-US" sz="1300" dirty="0"/>
          </a:p>
          <a:p>
            <a:pPr algn="l" indent="0" marL="0">
              <a:spcAft>
                <a:spcPts val="400"/>
              </a:spcAft>
              <a:buNone/>
            </a:pPr>
            <a:r>
              <a:rPr lang="en-US" sz="1300" dirty="0">
                <a:solidFill>
                  <a:srgbClr val="1A1A1A"/>
                </a:solidFill>
                <a:latin typeface="Calibri" pitchFamily="34" charset="0"/>
                <a:ea typeface="Calibri" pitchFamily="34" charset="-122"/>
                <a:cs typeface="Calibri" pitchFamily="34" charset="-120"/>
              </a:rPr>
              <a:t>The machinery by which something works, independent of why. Mechanisms exist as available capacity. They become meaningful only when elected by some purposive layer; until then they are inventory.</a:t>
            </a:r>
            <a:endParaRPr lang="en-US" sz="1300" dirty="0"/>
          </a:p>
          <a:p>
            <a:pPr algn="l" indent="0" marL="0">
              <a:spcAft>
                <a:spcPts val="400"/>
              </a:spcAft>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algn="l" indent="0" marL="0">
              <a:spcAft>
                <a:spcPts val="400"/>
              </a:spcAft>
              <a:buNone/>
            </a:pPr>
            <a:r>
              <a:rPr lang="en-US" sz="1300" b="1" dirty="0">
                <a:solidFill>
                  <a:srgbClr val="8B2E2E"/>
                </a:solidFill>
                <a:latin typeface="Calibri" pitchFamily="34" charset="0"/>
                <a:ea typeface="Calibri" pitchFamily="34" charset="-122"/>
                <a:cs typeface="Calibri" pitchFamily="34" charset="-120"/>
              </a:rPr>
              <a:t>The selection relation.</a:t>
            </a:r>
            <a:endParaRPr lang="en-US" sz="1300" dirty="0"/>
          </a:p>
          <a:p>
            <a:pPr algn="l" indent="0" marL="0">
              <a:spcAft>
                <a:spcPts val="400"/>
              </a:spcAft>
              <a:buNone/>
            </a:pPr>
            <a:r>
              <a:rPr lang="en-US" sz="1300" dirty="0">
                <a:solidFill>
                  <a:srgbClr val="1A1A1A"/>
                </a:solidFill>
                <a:latin typeface="Calibri" pitchFamily="34" charset="0"/>
                <a:ea typeface="Calibri" pitchFamily="34" charset="-122"/>
                <a:cs typeface="Calibri" pitchFamily="34" charset="-120"/>
              </a:rPr>
              <a:t>Purposive declarations elect from operationally available mechanisms. Mechanisms not elected by any purposive layer are not part of the system's disposition, even if operationally available.</a:t>
            </a:r>
            <a:endParaRPr lang="en-US" sz="1300" dirty="0"/>
          </a:p>
        </p:txBody>
      </p:sp>
      <p:pic>
        <p:nvPicPr>
          <p:cNvPr id="6" name="Image 0" descr="/home/claude/modus_means_mechanisms.png">    </p:cNvPr>
          <p:cNvPicPr>
            <a:picLocks noChangeAspect="1"/>
          </p:cNvPicPr>
          <p:nvPr/>
        </p:nvPicPr>
        <p:blipFill>
          <a:blip r:embed="rId1"/>
          <a:srcRect l="0" r="0" t="0" b="0"/>
          <a:stretch/>
        </p:blipFill>
        <p:spPr>
          <a:xfrm>
            <a:off x="5394960" y="1828800"/>
            <a:ext cx="6217920" cy="4023360"/>
          </a:xfrm>
          <a:prstGeom prst="rect">
            <a:avLst/>
          </a:prstGeom>
        </p:spPr>
      </p:pic>
      <p:sp>
        <p:nvSpPr>
          <p:cNvPr id="7" name="Text 4"/>
          <p:cNvSpPr/>
          <p:nvPr/>
        </p:nvSpPr>
        <p:spPr>
          <a:xfrm>
            <a:off x="5394960" y="5943600"/>
            <a:ext cx="6217920" cy="274320"/>
          </a:xfrm>
          <a:prstGeom prst="rect">
            <a:avLst/>
          </a:prstGeom>
          <a:noFill/>
          <a:ln/>
        </p:spPr>
        <p:txBody>
          <a:bodyPr wrap="square" lIns="0" tIns="0" rIns="0" bIns="0" rtlCol="0" anchor="ctr"/>
          <a:lstStyle/>
          <a:p>
            <a:pPr algn="ctr" indent="0" marL="0">
              <a:buNone/>
            </a:pPr>
            <a:r>
              <a:rPr lang="en-US" sz="900" i="1" dirty="0">
                <a:solidFill>
                  <a:srgbClr val="6B6B6B"/>
                </a:solidFill>
                <a:latin typeface="Calibri" pitchFamily="34" charset="0"/>
                <a:ea typeface="Calibri" pitchFamily="34" charset="-122"/>
                <a:cs typeface="Calibri" pitchFamily="34" charset="-120"/>
              </a:rPr>
              <a:t>Figure 1  ·  Five-row selection relation in canonical order</a:t>
            </a:r>
            <a:endParaRPr lang="en-US" sz="900" dirty="0"/>
          </a:p>
        </p:txBody>
      </p:sp>
      <p:sp>
        <p:nvSpPr>
          <p:cNvPr id="8" name="Text 5"/>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05  ·  THE META-HARNESS</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The five-M decomposition</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Mind grounds morals. Morals grounds mission. Mission grounds memory. Memory grounds means.</a:t>
            </a:r>
            <a:endParaRPr lang="en-US" sz="1400" dirty="0"/>
          </a:p>
        </p:txBody>
      </p:sp>
      <p:sp>
        <p:nvSpPr>
          <p:cNvPr id="5" name="Shape 3"/>
          <p:cNvSpPr/>
          <p:nvPr/>
        </p:nvSpPr>
        <p:spPr>
          <a:xfrm>
            <a:off x="548640" y="2148840"/>
            <a:ext cx="11064240" cy="713232"/>
          </a:xfrm>
          <a:prstGeom prst="rect">
            <a:avLst/>
          </a:prstGeom>
          <a:solidFill>
            <a:srgbClr val="F0EFEA"/>
          </a:solidFill>
          <a:ln w="6350">
            <a:solidFill>
              <a:srgbClr val="D8D6CE"/>
            </a:solidFill>
            <a:prstDash val="solid"/>
          </a:ln>
        </p:spPr>
      </p:sp>
      <p:sp>
        <p:nvSpPr>
          <p:cNvPr id="6" name="Shape 4"/>
          <p:cNvSpPr/>
          <p:nvPr/>
        </p:nvSpPr>
        <p:spPr>
          <a:xfrm>
            <a:off x="548640" y="2148840"/>
            <a:ext cx="54864" cy="713232"/>
          </a:xfrm>
          <a:prstGeom prst="rect">
            <a:avLst/>
          </a:prstGeom>
          <a:solidFill>
            <a:srgbClr val="8B2E2E"/>
          </a:solidFill>
          <a:ln w="12700">
            <a:solidFill>
              <a:srgbClr val="8B2E2E"/>
            </a:solidFill>
            <a:prstDash val="solid"/>
          </a:ln>
        </p:spPr>
      </p:sp>
      <p:sp>
        <p:nvSpPr>
          <p:cNvPr id="7" name="Text 5"/>
          <p:cNvSpPr/>
          <p:nvPr/>
        </p:nvSpPr>
        <p:spPr>
          <a:xfrm>
            <a:off x="777240" y="2221992"/>
            <a:ext cx="1188720" cy="320040"/>
          </a:xfrm>
          <a:prstGeom prst="rect">
            <a:avLst/>
          </a:prstGeom>
          <a:noFill/>
          <a:ln/>
        </p:spPr>
        <p:txBody>
          <a:bodyPr wrap="square" lIns="0" tIns="0" rIns="0" bIns="0" rtlCol="0" anchor="t"/>
          <a:lstStyle/>
          <a:p>
            <a:pPr algn="l" indent="0" marL="0">
              <a:buNone/>
            </a:pPr>
            <a:r>
              <a:rPr lang="en-US" sz="1600" b="1" dirty="0">
                <a:solidFill>
                  <a:srgbClr val="1A1A1A"/>
                </a:solidFill>
                <a:latin typeface="Georgia" pitchFamily="34" charset="0"/>
                <a:ea typeface="Georgia" pitchFamily="34" charset="-122"/>
                <a:cs typeface="Georgia" pitchFamily="34" charset="-120"/>
              </a:rPr>
              <a:t>MIND</a:t>
            </a:r>
            <a:endParaRPr lang="en-US" sz="1600" dirty="0"/>
          </a:p>
        </p:txBody>
      </p:sp>
      <p:sp>
        <p:nvSpPr>
          <p:cNvPr id="8" name="Text 6"/>
          <p:cNvSpPr/>
          <p:nvPr/>
        </p:nvSpPr>
        <p:spPr>
          <a:xfrm>
            <a:off x="777240" y="2532888"/>
            <a:ext cx="1188720" cy="228600"/>
          </a:xfrm>
          <a:prstGeom prst="rect">
            <a:avLst/>
          </a:prstGeom>
          <a:noFill/>
          <a:ln/>
        </p:spPr>
        <p:txBody>
          <a:bodyPr wrap="square" lIns="0" tIns="0" rIns="0" bIns="0" rtlCol="0" anchor="t"/>
          <a:lstStyle/>
          <a:p>
            <a:pPr algn="l" indent="0" marL="0">
              <a:buNone/>
            </a:pPr>
            <a:r>
              <a:rPr lang="en-US" sz="1000" dirty="0">
                <a:solidFill>
                  <a:srgbClr val="8B2E2E"/>
                </a:solidFill>
                <a:latin typeface="Consolas" pitchFamily="34" charset="0"/>
                <a:ea typeface="Consolas" pitchFamily="34" charset="-122"/>
                <a:cs typeface="Consolas" pitchFamily="34" charset="-120"/>
              </a:rPr>
              <a:t>mind.md</a:t>
            </a:r>
            <a:endParaRPr lang="en-US" sz="1000" dirty="0"/>
          </a:p>
        </p:txBody>
      </p:sp>
      <p:sp>
        <p:nvSpPr>
          <p:cNvPr id="9" name="Text 7"/>
          <p:cNvSpPr/>
          <p:nvPr/>
        </p:nvSpPr>
        <p:spPr>
          <a:xfrm>
            <a:off x="2103120" y="2267712"/>
            <a:ext cx="9372600" cy="530352"/>
          </a:xfrm>
          <a:prstGeom prst="rect">
            <a:avLst/>
          </a:prstGeom>
          <a:noFill/>
          <a:ln/>
        </p:spPr>
        <p:txBody>
          <a:bodyPr wrap="square" lIns="0" tIns="0" rIns="0" bIns="0" rtlCol="0" anchor="ctr"/>
          <a:lstStyle/>
          <a:p>
            <a:pPr algn="l" indent="0" marL="0">
              <a:buNone/>
            </a:pPr>
            <a:r>
              <a:rPr lang="en-US" sz="1200" dirty="0">
                <a:solidFill>
                  <a:srgbClr val="1A1A1A"/>
                </a:solidFill>
                <a:latin typeface="Calibri" pitchFamily="34" charset="0"/>
                <a:ea typeface="Calibri" pitchFamily="34" charset="-122"/>
                <a:cs typeface="Calibri" pitchFamily="34" charset="-120"/>
              </a:rPr>
              <a:t>How the system reasons. Epistemic posture, reasoning frameworks, inference quality. The cognitive disposition that grounds everything below.</a:t>
            </a:r>
            <a:endParaRPr lang="en-US" sz="1200" dirty="0"/>
          </a:p>
        </p:txBody>
      </p:sp>
      <p:sp>
        <p:nvSpPr>
          <p:cNvPr id="10" name="Shape 8"/>
          <p:cNvSpPr/>
          <p:nvPr/>
        </p:nvSpPr>
        <p:spPr>
          <a:xfrm>
            <a:off x="548640" y="2916936"/>
            <a:ext cx="11064240" cy="713232"/>
          </a:xfrm>
          <a:prstGeom prst="rect">
            <a:avLst/>
          </a:prstGeom>
          <a:solidFill>
            <a:srgbClr val="F0EFEA"/>
          </a:solidFill>
          <a:ln w="6350">
            <a:solidFill>
              <a:srgbClr val="D8D6CE"/>
            </a:solidFill>
            <a:prstDash val="solid"/>
          </a:ln>
        </p:spPr>
      </p:sp>
      <p:sp>
        <p:nvSpPr>
          <p:cNvPr id="11" name="Shape 9"/>
          <p:cNvSpPr/>
          <p:nvPr/>
        </p:nvSpPr>
        <p:spPr>
          <a:xfrm>
            <a:off x="548640" y="2916936"/>
            <a:ext cx="54864" cy="713232"/>
          </a:xfrm>
          <a:prstGeom prst="rect">
            <a:avLst/>
          </a:prstGeom>
          <a:solidFill>
            <a:srgbClr val="8B2E2E"/>
          </a:solidFill>
          <a:ln w="12700">
            <a:solidFill>
              <a:srgbClr val="8B2E2E"/>
            </a:solidFill>
            <a:prstDash val="solid"/>
          </a:ln>
        </p:spPr>
      </p:sp>
      <p:sp>
        <p:nvSpPr>
          <p:cNvPr id="12" name="Text 10"/>
          <p:cNvSpPr/>
          <p:nvPr/>
        </p:nvSpPr>
        <p:spPr>
          <a:xfrm>
            <a:off x="777240" y="2990088"/>
            <a:ext cx="1188720" cy="320040"/>
          </a:xfrm>
          <a:prstGeom prst="rect">
            <a:avLst/>
          </a:prstGeom>
          <a:noFill/>
          <a:ln/>
        </p:spPr>
        <p:txBody>
          <a:bodyPr wrap="square" lIns="0" tIns="0" rIns="0" bIns="0" rtlCol="0" anchor="t"/>
          <a:lstStyle/>
          <a:p>
            <a:pPr algn="l" indent="0" marL="0">
              <a:buNone/>
            </a:pPr>
            <a:r>
              <a:rPr lang="en-US" sz="1600" b="1" dirty="0">
                <a:solidFill>
                  <a:srgbClr val="1A1A1A"/>
                </a:solidFill>
                <a:latin typeface="Georgia" pitchFamily="34" charset="0"/>
                <a:ea typeface="Georgia" pitchFamily="34" charset="-122"/>
                <a:cs typeface="Georgia" pitchFamily="34" charset="-120"/>
              </a:rPr>
              <a:t>MORALS</a:t>
            </a:r>
            <a:endParaRPr lang="en-US" sz="1600" dirty="0"/>
          </a:p>
        </p:txBody>
      </p:sp>
      <p:sp>
        <p:nvSpPr>
          <p:cNvPr id="13" name="Text 11"/>
          <p:cNvSpPr/>
          <p:nvPr/>
        </p:nvSpPr>
        <p:spPr>
          <a:xfrm>
            <a:off x="777240" y="3300984"/>
            <a:ext cx="1188720" cy="228600"/>
          </a:xfrm>
          <a:prstGeom prst="rect">
            <a:avLst/>
          </a:prstGeom>
          <a:noFill/>
          <a:ln/>
        </p:spPr>
        <p:txBody>
          <a:bodyPr wrap="square" lIns="0" tIns="0" rIns="0" bIns="0" rtlCol="0" anchor="t"/>
          <a:lstStyle/>
          <a:p>
            <a:pPr algn="l" indent="0" marL="0">
              <a:buNone/>
            </a:pPr>
            <a:r>
              <a:rPr lang="en-US" sz="1000" dirty="0">
                <a:solidFill>
                  <a:srgbClr val="8B2E2E"/>
                </a:solidFill>
                <a:latin typeface="Consolas" pitchFamily="34" charset="0"/>
                <a:ea typeface="Consolas" pitchFamily="34" charset="-122"/>
                <a:cs typeface="Consolas" pitchFamily="34" charset="-120"/>
              </a:rPr>
              <a:t>morals.md</a:t>
            </a:r>
            <a:endParaRPr lang="en-US" sz="1000" dirty="0"/>
          </a:p>
        </p:txBody>
      </p:sp>
      <p:sp>
        <p:nvSpPr>
          <p:cNvPr id="14" name="Text 12"/>
          <p:cNvSpPr/>
          <p:nvPr/>
        </p:nvSpPr>
        <p:spPr>
          <a:xfrm>
            <a:off x="2103120" y="3035808"/>
            <a:ext cx="9372600" cy="530352"/>
          </a:xfrm>
          <a:prstGeom prst="rect">
            <a:avLst/>
          </a:prstGeom>
          <a:noFill/>
          <a:ln/>
        </p:spPr>
        <p:txBody>
          <a:bodyPr wrap="square" lIns="0" tIns="0" rIns="0" bIns="0" rtlCol="0" anchor="ctr"/>
          <a:lstStyle/>
          <a:p>
            <a:pPr algn="l" indent="0" marL="0">
              <a:buNone/>
            </a:pPr>
            <a:r>
              <a:rPr lang="en-US" sz="1200" dirty="0">
                <a:solidFill>
                  <a:srgbClr val="1A1A1A"/>
                </a:solidFill>
                <a:latin typeface="Calibri" pitchFamily="34" charset="0"/>
                <a:ea typeface="Calibri" pitchFamily="34" charset="-122"/>
                <a:cs typeface="Calibri" pitchFamily="34" charset="-120"/>
              </a:rPr>
              <a:t>What the system must not do. Constraints, prohibitions, safety boundaries. Ethical constraint grounded in reasoning posture.</a:t>
            </a:r>
            <a:endParaRPr lang="en-US" sz="1200" dirty="0"/>
          </a:p>
        </p:txBody>
      </p:sp>
      <p:sp>
        <p:nvSpPr>
          <p:cNvPr id="15" name="Shape 13"/>
          <p:cNvSpPr/>
          <p:nvPr/>
        </p:nvSpPr>
        <p:spPr>
          <a:xfrm>
            <a:off x="548640" y="3685032"/>
            <a:ext cx="11064240" cy="713232"/>
          </a:xfrm>
          <a:prstGeom prst="rect">
            <a:avLst/>
          </a:prstGeom>
          <a:solidFill>
            <a:srgbClr val="F0EFEA"/>
          </a:solidFill>
          <a:ln w="6350">
            <a:solidFill>
              <a:srgbClr val="D8D6CE"/>
            </a:solidFill>
            <a:prstDash val="solid"/>
          </a:ln>
        </p:spPr>
      </p:sp>
      <p:sp>
        <p:nvSpPr>
          <p:cNvPr id="16" name="Shape 14"/>
          <p:cNvSpPr/>
          <p:nvPr/>
        </p:nvSpPr>
        <p:spPr>
          <a:xfrm>
            <a:off x="548640" y="3685032"/>
            <a:ext cx="54864" cy="713232"/>
          </a:xfrm>
          <a:prstGeom prst="rect">
            <a:avLst/>
          </a:prstGeom>
          <a:solidFill>
            <a:srgbClr val="8B2E2E"/>
          </a:solidFill>
          <a:ln w="12700">
            <a:solidFill>
              <a:srgbClr val="8B2E2E"/>
            </a:solidFill>
            <a:prstDash val="solid"/>
          </a:ln>
        </p:spPr>
      </p:sp>
      <p:sp>
        <p:nvSpPr>
          <p:cNvPr id="17" name="Text 15"/>
          <p:cNvSpPr/>
          <p:nvPr/>
        </p:nvSpPr>
        <p:spPr>
          <a:xfrm>
            <a:off x="777240" y="3758184"/>
            <a:ext cx="1188720" cy="320040"/>
          </a:xfrm>
          <a:prstGeom prst="rect">
            <a:avLst/>
          </a:prstGeom>
          <a:noFill/>
          <a:ln/>
        </p:spPr>
        <p:txBody>
          <a:bodyPr wrap="square" lIns="0" tIns="0" rIns="0" bIns="0" rtlCol="0" anchor="t"/>
          <a:lstStyle/>
          <a:p>
            <a:pPr algn="l" indent="0" marL="0">
              <a:buNone/>
            </a:pPr>
            <a:r>
              <a:rPr lang="en-US" sz="1600" b="1" dirty="0">
                <a:solidFill>
                  <a:srgbClr val="1A1A1A"/>
                </a:solidFill>
                <a:latin typeface="Georgia" pitchFamily="34" charset="0"/>
                <a:ea typeface="Georgia" pitchFamily="34" charset="-122"/>
                <a:cs typeface="Georgia" pitchFamily="34" charset="-120"/>
              </a:rPr>
              <a:t>MISSION</a:t>
            </a:r>
            <a:endParaRPr lang="en-US" sz="1600" dirty="0"/>
          </a:p>
        </p:txBody>
      </p:sp>
      <p:sp>
        <p:nvSpPr>
          <p:cNvPr id="18" name="Text 16"/>
          <p:cNvSpPr/>
          <p:nvPr/>
        </p:nvSpPr>
        <p:spPr>
          <a:xfrm>
            <a:off x="777240" y="4069080"/>
            <a:ext cx="1188720" cy="228600"/>
          </a:xfrm>
          <a:prstGeom prst="rect">
            <a:avLst/>
          </a:prstGeom>
          <a:noFill/>
          <a:ln/>
        </p:spPr>
        <p:txBody>
          <a:bodyPr wrap="square" lIns="0" tIns="0" rIns="0" bIns="0" rtlCol="0" anchor="t"/>
          <a:lstStyle/>
          <a:p>
            <a:pPr algn="l" indent="0" marL="0">
              <a:buNone/>
            </a:pPr>
            <a:r>
              <a:rPr lang="en-US" sz="1000" dirty="0">
                <a:solidFill>
                  <a:srgbClr val="8B2E2E"/>
                </a:solidFill>
                <a:latin typeface="Consolas" pitchFamily="34" charset="0"/>
                <a:ea typeface="Consolas" pitchFamily="34" charset="-122"/>
                <a:cs typeface="Consolas" pitchFamily="34" charset="-120"/>
              </a:rPr>
              <a:t>mission.md</a:t>
            </a:r>
            <a:endParaRPr lang="en-US" sz="1000" dirty="0"/>
          </a:p>
        </p:txBody>
      </p:sp>
      <p:sp>
        <p:nvSpPr>
          <p:cNvPr id="19" name="Text 17"/>
          <p:cNvSpPr/>
          <p:nvPr/>
        </p:nvSpPr>
        <p:spPr>
          <a:xfrm>
            <a:off x="2103120" y="3803904"/>
            <a:ext cx="9372600" cy="530352"/>
          </a:xfrm>
          <a:prstGeom prst="rect">
            <a:avLst/>
          </a:prstGeom>
          <a:noFill/>
          <a:ln/>
        </p:spPr>
        <p:txBody>
          <a:bodyPr wrap="square" lIns="0" tIns="0" rIns="0" bIns="0" rtlCol="0" anchor="ctr"/>
          <a:lstStyle/>
          <a:p>
            <a:pPr algn="l" indent="0" marL="0">
              <a:buNone/>
            </a:pPr>
            <a:r>
              <a:rPr lang="en-US" sz="1200" dirty="0">
                <a:solidFill>
                  <a:srgbClr val="1A1A1A"/>
                </a:solidFill>
                <a:latin typeface="Calibri" pitchFamily="34" charset="0"/>
                <a:ea typeface="Calibri" pitchFamily="34" charset="-122"/>
                <a:cs typeface="Calibri" pitchFamily="34" charset="-120"/>
              </a:rPr>
              <a:t>What the system is for. Objectives, priorities, admissibility conditions. Purpose grounded in ethical constraint.</a:t>
            </a:r>
            <a:endParaRPr lang="en-US" sz="1200" dirty="0"/>
          </a:p>
        </p:txBody>
      </p:sp>
      <p:sp>
        <p:nvSpPr>
          <p:cNvPr id="20" name="Shape 18"/>
          <p:cNvSpPr/>
          <p:nvPr/>
        </p:nvSpPr>
        <p:spPr>
          <a:xfrm>
            <a:off x="548640" y="4453128"/>
            <a:ext cx="11064240" cy="713232"/>
          </a:xfrm>
          <a:prstGeom prst="rect">
            <a:avLst/>
          </a:prstGeom>
          <a:solidFill>
            <a:srgbClr val="F0EFEA"/>
          </a:solidFill>
          <a:ln w="6350">
            <a:solidFill>
              <a:srgbClr val="D8D6CE"/>
            </a:solidFill>
            <a:prstDash val="solid"/>
          </a:ln>
        </p:spPr>
      </p:sp>
      <p:sp>
        <p:nvSpPr>
          <p:cNvPr id="21" name="Shape 19"/>
          <p:cNvSpPr/>
          <p:nvPr/>
        </p:nvSpPr>
        <p:spPr>
          <a:xfrm>
            <a:off x="548640" y="4453128"/>
            <a:ext cx="54864" cy="713232"/>
          </a:xfrm>
          <a:prstGeom prst="rect">
            <a:avLst/>
          </a:prstGeom>
          <a:solidFill>
            <a:srgbClr val="8B2E2E"/>
          </a:solidFill>
          <a:ln w="12700">
            <a:solidFill>
              <a:srgbClr val="8B2E2E"/>
            </a:solidFill>
            <a:prstDash val="solid"/>
          </a:ln>
        </p:spPr>
      </p:sp>
      <p:sp>
        <p:nvSpPr>
          <p:cNvPr id="22" name="Text 20"/>
          <p:cNvSpPr/>
          <p:nvPr/>
        </p:nvSpPr>
        <p:spPr>
          <a:xfrm>
            <a:off x="777240" y="4526280"/>
            <a:ext cx="1188720" cy="320040"/>
          </a:xfrm>
          <a:prstGeom prst="rect">
            <a:avLst/>
          </a:prstGeom>
          <a:noFill/>
          <a:ln/>
        </p:spPr>
        <p:txBody>
          <a:bodyPr wrap="square" lIns="0" tIns="0" rIns="0" bIns="0" rtlCol="0" anchor="t"/>
          <a:lstStyle/>
          <a:p>
            <a:pPr algn="l" indent="0" marL="0">
              <a:buNone/>
            </a:pPr>
            <a:r>
              <a:rPr lang="en-US" sz="1600" b="1" dirty="0">
                <a:solidFill>
                  <a:srgbClr val="1A1A1A"/>
                </a:solidFill>
                <a:latin typeface="Georgia" pitchFamily="34" charset="0"/>
                <a:ea typeface="Georgia" pitchFamily="34" charset="-122"/>
                <a:cs typeface="Georgia" pitchFamily="34" charset="-120"/>
              </a:rPr>
              <a:t>MEMORY</a:t>
            </a:r>
            <a:endParaRPr lang="en-US" sz="1600" dirty="0"/>
          </a:p>
        </p:txBody>
      </p:sp>
      <p:sp>
        <p:nvSpPr>
          <p:cNvPr id="23" name="Text 21"/>
          <p:cNvSpPr/>
          <p:nvPr/>
        </p:nvSpPr>
        <p:spPr>
          <a:xfrm>
            <a:off x="777240" y="4837176"/>
            <a:ext cx="1188720" cy="228600"/>
          </a:xfrm>
          <a:prstGeom prst="rect">
            <a:avLst/>
          </a:prstGeom>
          <a:noFill/>
          <a:ln/>
        </p:spPr>
        <p:txBody>
          <a:bodyPr wrap="square" lIns="0" tIns="0" rIns="0" bIns="0" rtlCol="0" anchor="t"/>
          <a:lstStyle/>
          <a:p>
            <a:pPr algn="l" indent="0" marL="0">
              <a:buNone/>
            </a:pPr>
            <a:r>
              <a:rPr lang="en-US" sz="1000" dirty="0">
                <a:solidFill>
                  <a:srgbClr val="8B2E2E"/>
                </a:solidFill>
                <a:latin typeface="Consolas" pitchFamily="34" charset="0"/>
                <a:ea typeface="Consolas" pitchFamily="34" charset="-122"/>
                <a:cs typeface="Consolas" pitchFamily="34" charset="-120"/>
              </a:rPr>
              <a:t>memory.md</a:t>
            </a:r>
            <a:endParaRPr lang="en-US" sz="1000" dirty="0"/>
          </a:p>
        </p:txBody>
      </p:sp>
      <p:sp>
        <p:nvSpPr>
          <p:cNvPr id="24" name="Text 22"/>
          <p:cNvSpPr/>
          <p:nvPr/>
        </p:nvSpPr>
        <p:spPr>
          <a:xfrm>
            <a:off x="2103120" y="4572000"/>
            <a:ext cx="9372600" cy="530352"/>
          </a:xfrm>
          <a:prstGeom prst="rect">
            <a:avLst/>
          </a:prstGeom>
          <a:noFill/>
          <a:ln/>
        </p:spPr>
        <p:txBody>
          <a:bodyPr wrap="square" lIns="0" tIns="0" rIns="0" bIns="0" rtlCol="0" anchor="ctr"/>
          <a:lstStyle/>
          <a:p>
            <a:pPr algn="l" indent="0" marL="0">
              <a:buNone/>
            </a:pPr>
            <a:r>
              <a:rPr lang="en-US" sz="1200" dirty="0">
                <a:solidFill>
                  <a:srgbClr val="1A1A1A"/>
                </a:solidFill>
                <a:latin typeface="Calibri" pitchFamily="34" charset="0"/>
                <a:ea typeface="Calibri" pitchFamily="34" charset="-122"/>
                <a:cs typeface="Calibri" pitchFamily="34" charset="-120"/>
              </a:rPr>
              <a:t>What the system remembers and forgets. Retention, persistence, recall. What must be remembered, grounded in purpose.</a:t>
            </a:r>
            <a:endParaRPr lang="en-US" sz="1200" dirty="0"/>
          </a:p>
        </p:txBody>
      </p:sp>
      <p:sp>
        <p:nvSpPr>
          <p:cNvPr id="25" name="Shape 23"/>
          <p:cNvSpPr/>
          <p:nvPr/>
        </p:nvSpPr>
        <p:spPr>
          <a:xfrm>
            <a:off x="548640" y="5221224"/>
            <a:ext cx="11064240" cy="713232"/>
          </a:xfrm>
          <a:prstGeom prst="rect">
            <a:avLst/>
          </a:prstGeom>
          <a:solidFill>
            <a:srgbClr val="F0EFEA"/>
          </a:solidFill>
          <a:ln w="6350">
            <a:solidFill>
              <a:srgbClr val="D8D6CE"/>
            </a:solidFill>
            <a:prstDash val="solid"/>
          </a:ln>
        </p:spPr>
      </p:sp>
      <p:sp>
        <p:nvSpPr>
          <p:cNvPr id="26" name="Shape 24"/>
          <p:cNvSpPr/>
          <p:nvPr/>
        </p:nvSpPr>
        <p:spPr>
          <a:xfrm>
            <a:off x="548640" y="5221224"/>
            <a:ext cx="54864" cy="713232"/>
          </a:xfrm>
          <a:prstGeom prst="rect">
            <a:avLst/>
          </a:prstGeom>
          <a:solidFill>
            <a:srgbClr val="8B2E2E"/>
          </a:solidFill>
          <a:ln w="12700">
            <a:solidFill>
              <a:srgbClr val="8B2E2E"/>
            </a:solidFill>
            <a:prstDash val="solid"/>
          </a:ln>
        </p:spPr>
      </p:sp>
      <p:sp>
        <p:nvSpPr>
          <p:cNvPr id="27" name="Text 25"/>
          <p:cNvSpPr/>
          <p:nvPr/>
        </p:nvSpPr>
        <p:spPr>
          <a:xfrm>
            <a:off x="777240" y="5294376"/>
            <a:ext cx="1188720" cy="320040"/>
          </a:xfrm>
          <a:prstGeom prst="rect">
            <a:avLst/>
          </a:prstGeom>
          <a:noFill/>
          <a:ln/>
        </p:spPr>
        <p:txBody>
          <a:bodyPr wrap="square" lIns="0" tIns="0" rIns="0" bIns="0" rtlCol="0" anchor="t"/>
          <a:lstStyle/>
          <a:p>
            <a:pPr algn="l" indent="0" marL="0">
              <a:buNone/>
            </a:pPr>
            <a:r>
              <a:rPr lang="en-US" sz="1600" b="1" dirty="0">
                <a:solidFill>
                  <a:srgbClr val="1A1A1A"/>
                </a:solidFill>
                <a:latin typeface="Georgia" pitchFamily="34" charset="0"/>
                <a:ea typeface="Georgia" pitchFamily="34" charset="-122"/>
                <a:cs typeface="Georgia" pitchFamily="34" charset="-120"/>
              </a:rPr>
              <a:t>MEANS</a:t>
            </a:r>
            <a:endParaRPr lang="en-US" sz="1600" dirty="0"/>
          </a:p>
        </p:txBody>
      </p:sp>
      <p:sp>
        <p:nvSpPr>
          <p:cNvPr id="28" name="Text 26"/>
          <p:cNvSpPr/>
          <p:nvPr/>
        </p:nvSpPr>
        <p:spPr>
          <a:xfrm>
            <a:off x="777240" y="5605272"/>
            <a:ext cx="1188720" cy="228600"/>
          </a:xfrm>
          <a:prstGeom prst="rect">
            <a:avLst/>
          </a:prstGeom>
          <a:noFill/>
          <a:ln/>
        </p:spPr>
        <p:txBody>
          <a:bodyPr wrap="square" lIns="0" tIns="0" rIns="0" bIns="0" rtlCol="0" anchor="t"/>
          <a:lstStyle/>
          <a:p>
            <a:pPr algn="l" indent="0" marL="0">
              <a:buNone/>
            </a:pPr>
            <a:r>
              <a:rPr lang="en-US" sz="1000" dirty="0">
                <a:solidFill>
                  <a:srgbClr val="8B2E2E"/>
                </a:solidFill>
                <a:latin typeface="Consolas" pitchFamily="34" charset="0"/>
                <a:ea typeface="Consolas" pitchFamily="34" charset="-122"/>
                <a:cs typeface="Consolas" pitchFamily="34" charset="-120"/>
              </a:rPr>
              <a:t>means.md</a:t>
            </a:r>
            <a:endParaRPr lang="en-US" sz="1000" dirty="0"/>
          </a:p>
        </p:txBody>
      </p:sp>
      <p:sp>
        <p:nvSpPr>
          <p:cNvPr id="29" name="Text 27"/>
          <p:cNvSpPr/>
          <p:nvPr/>
        </p:nvSpPr>
        <p:spPr>
          <a:xfrm>
            <a:off x="2103120" y="5340096"/>
            <a:ext cx="9372600" cy="530352"/>
          </a:xfrm>
          <a:prstGeom prst="rect">
            <a:avLst/>
          </a:prstGeom>
          <a:noFill/>
          <a:ln/>
        </p:spPr>
        <p:txBody>
          <a:bodyPr wrap="square" lIns="0" tIns="0" rIns="0" bIns="0" rtlCol="0" anchor="ctr"/>
          <a:lstStyle/>
          <a:p>
            <a:pPr algn="l" indent="0" marL="0">
              <a:buNone/>
            </a:pPr>
            <a:r>
              <a:rPr lang="en-US" sz="1200" dirty="0">
                <a:solidFill>
                  <a:srgbClr val="1A1A1A"/>
                </a:solidFill>
                <a:latin typeface="Calibri" pitchFamily="34" charset="0"/>
                <a:ea typeface="Calibri" pitchFamily="34" charset="-122"/>
                <a:cs typeface="Calibri" pitchFamily="34" charset="-120"/>
              </a:rPr>
              <a:t>The system's purposive repertoire. Capability inventory, authorizations. What the system uses to act, grounded in what is remembered.</a:t>
            </a:r>
            <a:endParaRPr lang="en-US" sz="1200" dirty="0"/>
          </a:p>
        </p:txBody>
      </p:sp>
      <p:sp>
        <p:nvSpPr>
          <p:cNvPr id="30" name="Text 28"/>
          <p:cNvSpPr/>
          <p:nvPr/>
        </p:nvSpPr>
        <p:spPr>
          <a:xfrm>
            <a:off x="548640" y="6263640"/>
            <a:ext cx="11064240" cy="320040"/>
          </a:xfrm>
          <a:prstGeom prst="rect">
            <a:avLst/>
          </a:prstGeom>
          <a:noFill/>
          <a:ln/>
        </p:spPr>
        <p:txBody>
          <a:bodyPr wrap="square" lIns="0" tIns="0" rIns="0" bIns="0" rtlCol="0" anchor="ctr"/>
          <a:lstStyle/>
          <a:p>
            <a:pPr algn="ctr" indent="0" marL="0">
              <a:buNone/>
            </a:pPr>
            <a:r>
              <a:rPr lang="en-US" sz="1100" i="1" dirty="0">
                <a:solidFill>
                  <a:srgbClr val="6B6B6B"/>
                </a:solidFill>
                <a:latin typeface="Calibri" pitchFamily="34" charset="0"/>
                <a:ea typeface="Calibri" pitchFamily="34" charset="-122"/>
                <a:cs typeface="Calibri" pitchFamily="34" charset="-120"/>
              </a:rPr>
              <a:t>Each file is a purposive declaration, not a mechanism catalog. If any file slips into operational description, it stops being one of the M's.</a:t>
            </a:r>
            <a:endParaRPr lang="en-US" sz="1100" dirty="0"/>
          </a:p>
        </p:txBody>
      </p:sp>
      <p:sp>
        <p:nvSpPr>
          <p:cNvPr id="31" name="Text 29"/>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06  ·  FEDERATION</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Five tiers of federated architecture</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Modus Primus → Secundus → Tertius → Quartus → Quintus</a:t>
            </a:r>
            <a:endParaRPr lang="en-US" sz="1400" dirty="0"/>
          </a:p>
        </p:txBody>
      </p:sp>
      <p:pic>
        <p:nvPicPr>
          <p:cNvPr id="5" name="Image 0" descr="/home/claude/modus_federation_tiers.png">    </p:cNvPr>
          <p:cNvPicPr>
            <a:picLocks noChangeAspect="1"/>
          </p:cNvPicPr>
          <p:nvPr/>
        </p:nvPicPr>
        <p:blipFill>
          <a:blip r:embed="rId1"/>
          <a:srcRect l="0" r="0" t="0" b="0"/>
          <a:stretch/>
        </p:blipFill>
        <p:spPr>
          <a:xfrm>
            <a:off x="2310689" y="1920240"/>
            <a:ext cx="7540142" cy="4114800"/>
          </a:xfrm>
          <a:prstGeom prst="rect">
            <a:avLst/>
          </a:prstGeom>
        </p:spPr>
      </p:pic>
      <p:sp>
        <p:nvSpPr>
          <p:cNvPr id="6" name="Text 3"/>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1000" b="1" spc="150" kern="0" dirty="0">
                <a:solidFill>
                  <a:srgbClr val="8B2E2E"/>
                </a:solidFill>
                <a:latin typeface="Calibri" pitchFamily="34" charset="0"/>
                <a:ea typeface="Calibri" pitchFamily="34" charset="-122"/>
                <a:cs typeface="Calibri" pitchFamily="34" charset="-120"/>
              </a:rPr>
              <a:t>DELEGATION</a:t>
            </a:r>
            <a:pPr algn="ctr" indent="0" marL="0">
              <a:buNone/>
            </a:pPr>
            <a:r>
              <a:rPr lang="en-US" sz="1000" i="1" dirty="0">
                <a:solidFill>
                  <a:srgbClr val="6B6B6B"/>
                </a:solidFill>
                <a:latin typeface="Calibri" pitchFamily="34" charset="0"/>
                <a:ea typeface="Calibri" pitchFamily="34" charset="-122"/>
                <a:cs typeface="Calibri" pitchFamily="34" charset="-120"/>
              </a:rPr>
              <a:t> strictly hierarchical, tier-by-tier downward     </a:t>
            </a:r>
            <a:pPr algn="ctr" indent="0" marL="0">
              <a:buNone/>
            </a:pPr>
            <a:r>
              <a:rPr lang="en-US" sz="1000" b="1" spc="150" kern="0" dirty="0">
                <a:solidFill>
                  <a:srgbClr val="8B2E2E"/>
                </a:solidFill>
                <a:latin typeface="Calibri" pitchFamily="34" charset="0"/>
                <a:ea typeface="Calibri" pitchFamily="34" charset="-122"/>
                <a:cs typeface="Calibri" pitchFamily="34" charset="-120"/>
              </a:rPr>
              <a:t>ESCALATION</a:t>
            </a:r>
            <a:pPr algn="ctr" indent="0" marL="0">
              <a:buNone/>
            </a:pPr>
            <a:r>
              <a:rPr lang="en-US" sz="1000" i="1" dirty="0">
                <a:solidFill>
                  <a:srgbClr val="6B6B6B"/>
                </a:solidFill>
                <a:latin typeface="Calibri" pitchFamily="34" charset="0"/>
                <a:ea typeface="Calibri" pitchFamily="34" charset="-122"/>
                <a:cs typeface="Calibri" pitchFamily="34" charset="-120"/>
              </a:rPr>
              <a:t> hierarchical by default, tier-by-tier upward     </a:t>
            </a:r>
            <a:pPr algn="ctr" indent="0" marL="0">
              <a:buNone/>
            </a:pPr>
            <a:r>
              <a:rPr lang="en-US" sz="1000" b="1" spc="150" kern="0" dirty="0">
                <a:solidFill>
                  <a:srgbClr val="8B2E2E"/>
                </a:solidFill>
                <a:latin typeface="Calibri" pitchFamily="34" charset="0"/>
                <a:ea typeface="Calibri" pitchFamily="34" charset="-122"/>
                <a:cs typeface="Calibri" pitchFamily="34" charset="-120"/>
              </a:rPr>
              <a:t>SAFETY BYPASS</a:t>
            </a:r>
            <a:pPr algn="ctr" indent="0" marL="0">
              <a:buNone/>
            </a:pPr>
            <a:r>
              <a:rPr lang="en-US" sz="1000" i="1" dirty="0">
                <a:solidFill>
                  <a:srgbClr val="6B6B6B"/>
                </a:solidFill>
                <a:latin typeface="Calibri" pitchFamily="34" charset="0"/>
                <a:ea typeface="Calibri" pitchFamily="34" charset="-122"/>
                <a:cs typeface="Calibri" pitchFamily="34" charset="-120"/>
              </a:rPr>
              <a:t> direct escalation under defined exceptional conditions</a:t>
            </a:r>
            <a:endParaRPr lang="en-US" sz="1000" dirty="0"/>
          </a:p>
        </p:txBody>
      </p:sp>
      <p:sp>
        <p:nvSpPr>
          <p:cNvPr id="7" name="Text 4"/>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07  ·  STRUCTURAL VIEW</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What a Modus Primus instance comprises</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Work Breakdown Structure: meta-harness defines, orchestration sequences, agents perform.</a:t>
            </a:r>
            <a:endParaRPr lang="en-US" sz="1400" dirty="0"/>
          </a:p>
        </p:txBody>
      </p:sp>
      <p:pic>
        <p:nvPicPr>
          <p:cNvPr id="5" name="Image 0" descr="/home/claude/modus_wbs_layers.png">    </p:cNvPr>
          <p:cNvPicPr>
            <a:picLocks noChangeAspect="1"/>
          </p:cNvPicPr>
          <p:nvPr/>
        </p:nvPicPr>
        <p:blipFill>
          <a:blip r:embed="rId1"/>
          <a:srcRect l="0" r="0" t="0" b="0"/>
          <a:stretch/>
        </p:blipFill>
        <p:spPr>
          <a:xfrm>
            <a:off x="1337767" y="1874520"/>
            <a:ext cx="9485986" cy="4297680"/>
          </a:xfrm>
          <a:prstGeom prst="rect">
            <a:avLst/>
          </a:prstGeom>
        </p:spPr>
      </p:pic>
      <p:sp>
        <p:nvSpPr>
          <p:cNvPr id="6" name="Text 3"/>
          <p:cNvSpPr/>
          <p:nvPr/>
        </p:nvSpPr>
        <p:spPr>
          <a:xfrm>
            <a:off x="548640" y="6263640"/>
            <a:ext cx="11064240" cy="365760"/>
          </a:xfrm>
          <a:prstGeom prst="rect">
            <a:avLst/>
          </a:prstGeom>
          <a:noFill/>
          <a:ln/>
        </p:spPr>
        <p:txBody>
          <a:bodyPr wrap="square" lIns="0" tIns="0" rIns="0" bIns="0" rtlCol="0" anchor="ctr"/>
          <a:lstStyle/>
          <a:p>
            <a:pPr algn="ctr" indent="0" marL="0">
              <a:buNone/>
            </a:pPr>
            <a:r>
              <a:rPr lang="en-US" sz="1000" i="1" dirty="0">
                <a:solidFill>
                  <a:srgbClr val="6B6B6B"/>
                </a:solidFill>
                <a:latin typeface="Calibri" pitchFamily="34" charset="0"/>
                <a:ea typeface="Calibri" pitchFamily="34" charset="-122"/>
                <a:cs typeface="Calibri" pitchFamily="34" charset="-120"/>
              </a:rPr>
              <a:t>Each layer has a defined function. The meta-harness elects from the cognitive engine, orchestration, mechanism layer, execution-runtime, and observability infrastructure per the selection relation in Appendix C of the spec.</a:t>
            </a:r>
            <a:endParaRPr lang="en-US" sz="1000" dirty="0"/>
          </a:p>
        </p:txBody>
      </p:sp>
      <p:sp>
        <p:nvSpPr>
          <p:cNvPr id="7" name="Text 4"/>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08  ·  DISTINCTIVE ENGINEERING MOVE</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Runtime assurance as continuous validation</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Not observability. Validation evidence between formal reviews.</a:t>
            </a:r>
            <a:endParaRPr lang="en-US" sz="1400" dirty="0"/>
          </a:p>
        </p:txBody>
      </p:sp>
      <p:sp>
        <p:nvSpPr>
          <p:cNvPr id="5" name="Shape 3"/>
          <p:cNvSpPr/>
          <p:nvPr/>
        </p:nvSpPr>
        <p:spPr>
          <a:xfrm>
            <a:off x="548640" y="2194560"/>
            <a:ext cx="2628900" cy="2011680"/>
          </a:xfrm>
          <a:prstGeom prst="rect">
            <a:avLst/>
          </a:prstGeom>
          <a:solidFill>
            <a:srgbClr val="F0EFEA"/>
          </a:solidFill>
          <a:ln w="6350">
            <a:solidFill>
              <a:srgbClr val="D8D6CE"/>
            </a:solidFill>
            <a:prstDash val="solid"/>
          </a:ln>
        </p:spPr>
      </p:sp>
      <p:sp>
        <p:nvSpPr>
          <p:cNvPr id="6" name="Shape 4"/>
          <p:cNvSpPr/>
          <p:nvPr/>
        </p:nvSpPr>
        <p:spPr>
          <a:xfrm>
            <a:off x="548640" y="2194560"/>
            <a:ext cx="2628900" cy="54864"/>
          </a:xfrm>
          <a:prstGeom prst="rect">
            <a:avLst/>
          </a:prstGeom>
          <a:solidFill>
            <a:srgbClr val="8B2E2E"/>
          </a:solidFill>
          <a:ln w="12700">
            <a:solidFill>
              <a:srgbClr val="8B2E2E"/>
            </a:solidFill>
            <a:prstDash val="solid"/>
          </a:ln>
        </p:spPr>
      </p:sp>
      <p:sp>
        <p:nvSpPr>
          <p:cNvPr id="7" name="Text 5"/>
          <p:cNvSpPr/>
          <p:nvPr/>
        </p:nvSpPr>
        <p:spPr>
          <a:xfrm>
            <a:off x="731520" y="2377440"/>
            <a:ext cx="2263140" cy="457200"/>
          </a:xfrm>
          <a:prstGeom prst="rect">
            <a:avLst/>
          </a:prstGeom>
          <a:noFill/>
          <a:ln/>
        </p:spPr>
        <p:txBody>
          <a:bodyPr wrap="square" lIns="0" tIns="0" rIns="0" bIns="0" rtlCol="0" anchor="t"/>
          <a:lstStyle/>
          <a:p>
            <a:pPr algn="l" indent="0" marL="0">
              <a:buNone/>
            </a:pPr>
            <a:r>
              <a:rPr lang="en-US" sz="1100" b="1" spc="100" kern="0" dirty="0">
                <a:solidFill>
                  <a:srgbClr val="8B2E2E"/>
                </a:solidFill>
                <a:latin typeface="Calibri" pitchFamily="34" charset="0"/>
                <a:ea typeface="Calibri" pitchFamily="34" charset="-122"/>
                <a:cs typeface="Calibri" pitchFamily="34" charset="-120"/>
              </a:rPr>
              <a:t>DRIFT DETECTION</a:t>
            </a:r>
            <a:endParaRPr lang="en-US" sz="1100" dirty="0"/>
          </a:p>
        </p:txBody>
      </p:sp>
      <p:sp>
        <p:nvSpPr>
          <p:cNvPr id="8" name="Text 6"/>
          <p:cNvSpPr/>
          <p:nvPr/>
        </p:nvSpPr>
        <p:spPr>
          <a:xfrm>
            <a:off x="731520" y="2880360"/>
            <a:ext cx="2263140" cy="118872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Behavior drifting from declared mission scope. Triggers re-validation when bounds exceeded.</a:t>
            </a:r>
            <a:endParaRPr lang="en-US" sz="1200" dirty="0"/>
          </a:p>
        </p:txBody>
      </p:sp>
      <p:sp>
        <p:nvSpPr>
          <p:cNvPr id="9" name="Shape 7"/>
          <p:cNvSpPr/>
          <p:nvPr/>
        </p:nvSpPr>
        <p:spPr>
          <a:xfrm>
            <a:off x="3360420" y="2194560"/>
            <a:ext cx="2628900" cy="2011680"/>
          </a:xfrm>
          <a:prstGeom prst="rect">
            <a:avLst/>
          </a:prstGeom>
          <a:solidFill>
            <a:srgbClr val="F0EFEA"/>
          </a:solidFill>
          <a:ln w="6350">
            <a:solidFill>
              <a:srgbClr val="D8D6CE"/>
            </a:solidFill>
            <a:prstDash val="solid"/>
          </a:ln>
        </p:spPr>
      </p:sp>
      <p:sp>
        <p:nvSpPr>
          <p:cNvPr id="10" name="Shape 8"/>
          <p:cNvSpPr/>
          <p:nvPr/>
        </p:nvSpPr>
        <p:spPr>
          <a:xfrm>
            <a:off x="3360420" y="2194560"/>
            <a:ext cx="2628900" cy="54864"/>
          </a:xfrm>
          <a:prstGeom prst="rect">
            <a:avLst/>
          </a:prstGeom>
          <a:solidFill>
            <a:srgbClr val="8B2E2E"/>
          </a:solidFill>
          <a:ln w="12700">
            <a:solidFill>
              <a:srgbClr val="8B2E2E"/>
            </a:solidFill>
            <a:prstDash val="solid"/>
          </a:ln>
        </p:spPr>
      </p:sp>
      <p:sp>
        <p:nvSpPr>
          <p:cNvPr id="11" name="Text 9"/>
          <p:cNvSpPr/>
          <p:nvPr/>
        </p:nvSpPr>
        <p:spPr>
          <a:xfrm>
            <a:off x="3543300" y="2377440"/>
            <a:ext cx="2263140" cy="457200"/>
          </a:xfrm>
          <a:prstGeom prst="rect">
            <a:avLst/>
          </a:prstGeom>
          <a:noFill/>
          <a:ln/>
        </p:spPr>
        <p:txBody>
          <a:bodyPr wrap="square" lIns="0" tIns="0" rIns="0" bIns="0" rtlCol="0" anchor="t"/>
          <a:lstStyle/>
          <a:p>
            <a:pPr algn="l" indent="0" marL="0">
              <a:buNone/>
            </a:pPr>
            <a:r>
              <a:rPr lang="en-US" sz="1100" b="1" spc="100" kern="0" dirty="0">
                <a:solidFill>
                  <a:srgbClr val="8B2E2E"/>
                </a:solidFill>
                <a:latin typeface="Calibri" pitchFamily="34" charset="0"/>
                <a:ea typeface="Calibri" pitchFamily="34" charset="-122"/>
                <a:cs typeface="Calibri" pitchFamily="34" charset="-120"/>
              </a:rPr>
              <a:t>MISSION COHERENCE</a:t>
            </a:r>
            <a:endParaRPr lang="en-US" sz="1100" dirty="0"/>
          </a:p>
        </p:txBody>
      </p:sp>
      <p:sp>
        <p:nvSpPr>
          <p:cNvPr id="12" name="Text 10"/>
          <p:cNvSpPr/>
          <p:nvPr/>
        </p:nvSpPr>
        <p:spPr>
          <a:xfrm>
            <a:off x="3543300" y="2880360"/>
            <a:ext cx="2263140" cy="118872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Outcomes aligned with mission objectives over time. Monitors fitness for declared purpose.</a:t>
            </a:r>
            <a:endParaRPr lang="en-US" sz="1200" dirty="0"/>
          </a:p>
        </p:txBody>
      </p:sp>
      <p:sp>
        <p:nvSpPr>
          <p:cNvPr id="13" name="Shape 11"/>
          <p:cNvSpPr/>
          <p:nvPr/>
        </p:nvSpPr>
        <p:spPr>
          <a:xfrm>
            <a:off x="6172200" y="2194560"/>
            <a:ext cx="2628900" cy="2011680"/>
          </a:xfrm>
          <a:prstGeom prst="rect">
            <a:avLst/>
          </a:prstGeom>
          <a:solidFill>
            <a:srgbClr val="F0EFEA"/>
          </a:solidFill>
          <a:ln w="6350">
            <a:solidFill>
              <a:srgbClr val="D8D6CE"/>
            </a:solidFill>
            <a:prstDash val="solid"/>
          </a:ln>
        </p:spPr>
      </p:sp>
      <p:sp>
        <p:nvSpPr>
          <p:cNvPr id="14" name="Shape 12"/>
          <p:cNvSpPr/>
          <p:nvPr/>
        </p:nvSpPr>
        <p:spPr>
          <a:xfrm>
            <a:off x="6172200" y="2194560"/>
            <a:ext cx="2628900" cy="54864"/>
          </a:xfrm>
          <a:prstGeom prst="rect">
            <a:avLst/>
          </a:prstGeom>
          <a:solidFill>
            <a:srgbClr val="8B2E2E"/>
          </a:solidFill>
          <a:ln w="12700">
            <a:solidFill>
              <a:srgbClr val="8B2E2E"/>
            </a:solidFill>
            <a:prstDash val="solid"/>
          </a:ln>
        </p:spPr>
      </p:sp>
      <p:sp>
        <p:nvSpPr>
          <p:cNvPr id="15" name="Text 13"/>
          <p:cNvSpPr/>
          <p:nvPr/>
        </p:nvSpPr>
        <p:spPr>
          <a:xfrm>
            <a:off x="6355080" y="2377440"/>
            <a:ext cx="2263140" cy="457200"/>
          </a:xfrm>
          <a:prstGeom prst="rect">
            <a:avLst/>
          </a:prstGeom>
          <a:noFill/>
          <a:ln/>
        </p:spPr>
        <p:txBody>
          <a:bodyPr wrap="square" lIns="0" tIns="0" rIns="0" bIns="0" rtlCol="0" anchor="t"/>
          <a:lstStyle/>
          <a:p>
            <a:pPr algn="l" indent="0" marL="0">
              <a:buNone/>
            </a:pPr>
            <a:r>
              <a:rPr lang="en-US" sz="1100" b="1" spc="100" kern="0" dirty="0">
                <a:solidFill>
                  <a:srgbClr val="8B2E2E"/>
                </a:solidFill>
                <a:latin typeface="Calibri" pitchFamily="34" charset="0"/>
                <a:ea typeface="Calibri" pitchFamily="34" charset="-122"/>
                <a:cs typeface="Calibri" pitchFamily="34" charset="-120"/>
              </a:rPr>
              <a:t>POLICY DEVIATION</a:t>
            </a:r>
            <a:endParaRPr lang="en-US" sz="1100" dirty="0"/>
          </a:p>
        </p:txBody>
      </p:sp>
      <p:sp>
        <p:nvSpPr>
          <p:cNvPr id="16" name="Text 14"/>
          <p:cNvSpPr/>
          <p:nvPr/>
        </p:nvSpPr>
        <p:spPr>
          <a:xfrm>
            <a:off x="6355080" y="2880360"/>
            <a:ext cx="2263140" cy="118872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Actions deviating from execution-policy.md constraints. Generates audit evidence at the time of deviation.</a:t>
            </a:r>
            <a:endParaRPr lang="en-US" sz="1200" dirty="0"/>
          </a:p>
        </p:txBody>
      </p:sp>
      <p:sp>
        <p:nvSpPr>
          <p:cNvPr id="17" name="Shape 15"/>
          <p:cNvSpPr/>
          <p:nvPr/>
        </p:nvSpPr>
        <p:spPr>
          <a:xfrm>
            <a:off x="8983980" y="2194560"/>
            <a:ext cx="2628900" cy="2011680"/>
          </a:xfrm>
          <a:prstGeom prst="rect">
            <a:avLst/>
          </a:prstGeom>
          <a:solidFill>
            <a:srgbClr val="F0EFEA"/>
          </a:solidFill>
          <a:ln w="6350">
            <a:solidFill>
              <a:srgbClr val="D8D6CE"/>
            </a:solidFill>
            <a:prstDash val="solid"/>
          </a:ln>
        </p:spPr>
      </p:sp>
      <p:sp>
        <p:nvSpPr>
          <p:cNvPr id="18" name="Shape 16"/>
          <p:cNvSpPr/>
          <p:nvPr/>
        </p:nvSpPr>
        <p:spPr>
          <a:xfrm>
            <a:off x="8983980" y="2194560"/>
            <a:ext cx="2628900" cy="54864"/>
          </a:xfrm>
          <a:prstGeom prst="rect">
            <a:avLst/>
          </a:prstGeom>
          <a:solidFill>
            <a:srgbClr val="8B2E2E"/>
          </a:solidFill>
          <a:ln w="12700">
            <a:solidFill>
              <a:srgbClr val="8B2E2E"/>
            </a:solidFill>
            <a:prstDash val="solid"/>
          </a:ln>
        </p:spPr>
      </p:sp>
      <p:sp>
        <p:nvSpPr>
          <p:cNvPr id="19" name="Text 17"/>
          <p:cNvSpPr/>
          <p:nvPr/>
        </p:nvSpPr>
        <p:spPr>
          <a:xfrm>
            <a:off x="9166860" y="2377440"/>
            <a:ext cx="2263140" cy="457200"/>
          </a:xfrm>
          <a:prstGeom prst="rect">
            <a:avLst/>
          </a:prstGeom>
          <a:noFill/>
          <a:ln/>
        </p:spPr>
        <p:txBody>
          <a:bodyPr wrap="square" lIns="0" tIns="0" rIns="0" bIns="0" rtlCol="0" anchor="t"/>
          <a:lstStyle/>
          <a:p>
            <a:pPr algn="l" indent="0" marL="0">
              <a:buNone/>
            </a:pPr>
            <a:r>
              <a:rPr lang="en-US" sz="1100" b="1" spc="100" kern="0" dirty="0">
                <a:solidFill>
                  <a:srgbClr val="8B2E2E"/>
                </a:solidFill>
                <a:latin typeface="Calibri" pitchFamily="34" charset="0"/>
                <a:ea typeface="Calibri" pitchFamily="34" charset="-122"/>
                <a:cs typeface="Calibri" pitchFamily="34" charset="-120"/>
              </a:rPr>
              <a:t>EXPLAINABILITY</a:t>
            </a:r>
            <a:endParaRPr lang="en-US" sz="1100" dirty="0"/>
          </a:p>
        </p:txBody>
      </p:sp>
      <p:sp>
        <p:nvSpPr>
          <p:cNvPr id="20" name="Text 18"/>
          <p:cNvSpPr/>
          <p:nvPr/>
        </p:nvSpPr>
        <p:spPr>
          <a:xfrm>
            <a:off x="9166860" y="2880360"/>
            <a:ext cx="2263140" cy="118872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Reasoning chains surfaceable for review. Required for trust escalation decisions.</a:t>
            </a:r>
            <a:endParaRPr lang="en-US" sz="1200" dirty="0"/>
          </a:p>
        </p:txBody>
      </p:sp>
      <p:sp>
        <p:nvSpPr>
          <p:cNvPr id="21" name="Text 19"/>
          <p:cNvSpPr/>
          <p:nvPr/>
        </p:nvSpPr>
        <p:spPr>
          <a:xfrm>
            <a:off x="548640" y="4572000"/>
            <a:ext cx="11064240" cy="365760"/>
          </a:xfrm>
          <a:prstGeom prst="rect">
            <a:avLst/>
          </a:prstGeom>
          <a:noFill/>
          <a:ln/>
        </p:spPr>
        <p:txBody>
          <a:bodyPr wrap="square" lIns="0" tIns="0" rIns="0" bIns="0" rtlCol="0" anchor="ctr"/>
          <a:lstStyle/>
          <a:p>
            <a:pPr algn="l" indent="0" marL="0">
              <a:buNone/>
            </a:pPr>
            <a:r>
              <a:rPr lang="en-US" sz="1600" b="1" dirty="0">
                <a:solidFill>
                  <a:srgbClr val="1A1A1A"/>
                </a:solidFill>
                <a:latin typeface="Georgia" pitchFamily="34" charset="0"/>
                <a:ea typeface="Georgia" pitchFamily="34" charset="-122"/>
                <a:cs typeface="Georgia" pitchFamily="34" charset="-120"/>
              </a:rPr>
              <a:t>The distinction that matters.</a:t>
            </a:r>
            <a:endParaRPr lang="en-US" sz="1600" dirty="0"/>
          </a:p>
        </p:txBody>
      </p:sp>
      <p:sp>
        <p:nvSpPr>
          <p:cNvPr id="22" name="Text 20"/>
          <p:cNvSpPr/>
          <p:nvPr/>
        </p:nvSpPr>
        <p:spPr>
          <a:xfrm>
            <a:off x="548640" y="5029200"/>
            <a:ext cx="11064240" cy="146304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Generic V&amp;V validates fitness at milestones. AI V&amp;V monitors fitness continuously. Generic systems engineering treats runtime monitoring as observability: a post-hoc indicator. Modus Primus treats it as validation evidence: an active V&amp;V instrument that produces continuous evidence the system is operating within its specification and toward its mission. This is the most distinctive engineering specialization in the framework.</a:t>
            </a:r>
            <a:endParaRPr lang="en-US" sz="1200" dirty="0"/>
          </a:p>
        </p:txBody>
      </p:sp>
      <p:sp>
        <p:nvSpPr>
          <p:cNvPr id="23" name="Text 21"/>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09  ·  GOVERNANCE PRIMITIVE</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Trust escalation model</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Four levels. Each requires explicit governance approval to advance.</a:t>
            </a:r>
            <a:endParaRPr lang="en-US" sz="1400" dirty="0"/>
          </a:p>
        </p:txBody>
      </p:sp>
      <p:sp>
        <p:nvSpPr>
          <p:cNvPr id="5" name="Shape 3"/>
          <p:cNvSpPr/>
          <p:nvPr/>
        </p:nvSpPr>
        <p:spPr>
          <a:xfrm>
            <a:off x="548640" y="2359152"/>
            <a:ext cx="548640" cy="548640"/>
          </a:xfrm>
          <a:prstGeom prst="ellipse">
            <a:avLst/>
          </a:prstGeom>
          <a:solidFill>
            <a:srgbClr val="8B2E2E"/>
          </a:solidFill>
          <a:ln w="12700">
            <a:solidFill>
              <a:srgbClr val="8B2E2E"/>
            </a:solidFill>
            <a:prstDash val="solid"/>
          </a:ln>
        </p:spPr>
      </p:sp>
      <p:sp>
        <p:nvSpPr>
          <p:cNvPr id="6" name="Text 4"/>
          <p:cNvSpPr/>
          <p:nvPr/>
        </p:nvSpPr>
        <p:spPr>
          <a:xfrm>
            <a:off x="548640" y="235915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7" name="Text 5"/>
          <p:cNvSpPr/>
          <p:nvPr/>
        </p:nvSpPr>
        <p:spPr>
          <a:xfrm>
            <a:off x="1371600" y="2286000"/>
            <a:ext cx="10241280" cy="320040"/>
          </a:xfrm>
          <a:prstGeom prst="rect">
            <a:avLst/>
          </a:prstGeom>
          <a:noFill/>
          <a:ln/>
        </p:spPr>
        <p:txBody>
          <a:bodyPr wrap="square" lIns="0" tIns="0" rIns="0" bIns="0" rtlCol="0" anchor="t"/>
          <a:lstStyle/>
          <a:p>
            <a:pPr algn="l" indent="0" marL="0">
              <a:buNone/>
            </a:pPr>
            <a:r>
              <a:rPr lang="en-US" sz="1400" b="1" spc="150" kern="0" dirty="0">
                <a:solidFill>
                  <a:srgbClr val="8B2E2E"/>
                </a:solidFill>
                <a:latin typeface="Calibri" pitchFamily="34" charset="0"/>
                <a:ea typeface="Calibri" pitchFamily="34" charset="-122"/>
                <a:cs typeface="Calibri" pitchFamily="34" charset="-120"/>
              </a:rPr>
              <a:t>ADVISORY ONLY</a:t>
            </a:r>
            <a:endParaRPr lang="en-US" sz="1400" dirty="0"/>
          </a:p>
        </p:txBody>
      </p:sp>
      <p:sp>
        <p:nvSpPr>
          <p:cNvPr id="8" name="Text 6"/>
          <p:cNvSpPr/>
          <p:nvPr/>
        </p:nvSpPr>
        <p:spPr>
          <a:xfrm>
            <a:off x="1371600" y="2606040"/>
            <a:ext cx="10241280" cy="45720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System produces recommendations. Human authority makes all decisions. Default starting state for any new capability.</a:t>
            </a:r>
            <a:endParaRPr lang="en-US" sz="1200" dirty="0"/>
          </a:p>
        </p:txBody>
      </p:sp>
      <p:sp>
        <p:nvSpPr>
          <p:cNvPr id="9" name="Shape 7"/>
          <p:cNvSpPr/>
          <p:nvPr/>
        </p:nvSpPr>
        <p:spPr>
          <a:xfrm>
            <a:off x="548640" y="3300984"/>
            <a:ext cx="548640" cy="548640"/>
          </a:xfrm>
          <a:prstGeom prst="ellipse">
            <a:avLst/>
          </a:prstGeom>
          <a:solidFill>
            <a:srgbClr val="8B2E2E"/>
          </a:solidFill>
          <a:ln w="12700">
            <a:solidFill>
              <a:srgbClr val="8B2E2E"/>
            </a:solidFill>
            <a:prstDash val="solid"/>
          </a:ln>
        </p:spPr>
      </p:sp>
      <p:sp>
        <p:nvSpPr>
          <p:cNvPr id="10" name="Text 8"/>
          <p:cNvSpPr/>
          <p:nvPr/>
        </p:nvSpPr>
        <p:spPr>
          <a:xfrm>
            <a:off x="548640" y="3300984"/>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11" name="Text 9"/>
          <p:cNvSpPr/>
          <p:nvPr/>
        </p:nvSpPr>
        <p:spPr>
          <a:xfrm>
            <a:off x="1371600" y="3227832"/>
            <a:ext cx="10241280" cy="320040"/>
          </a:xfrm>
          <a:prstGeom prst="rect">
            <a:avLst/>
          </a:prstGeom>
          <a:noFill/>
          <a:ln/>
        </p:spPr>
        <p:txBody>
          <a:bodyPr wrap="square" lIns="0" tIns="0" rIns="0" bIns="0" rtlCol="0" anchor="t"/>
          <a:lstStyle/>
          <a:p>
            <a:pPr algn="l" indent="0" marL="0">
              <a:buNone/>
            </a:pPr>
            <a:r>
              <a:rPr lang="en-US" sz="1400" b="1" spc="150" kern="0" dirty="0">
                <a:solidFill>
                  <a:srgbClr val="8B2E2E"/>
                </a:solidFill>
                <a:latin typeface="Calibri" pitchFamily="34" charset="0"/>
                <a:ea typeface="Calibri" pitchFamily="34" charset="-122"/>
                <a:cs typeface="Calibri" pitchFamily="34" charset="-120"/>
              </a:rPr>
              <a:t>RECOMMEND AND APPROVE</a:t>
            </a:r>
            <a:endParaRPr lang="en-US" sz="1400" dirty="0"/>
          </a:p>
        </p:txBody>
      </p:sp>
      <p:sp>
        <p:nvSpPr>
          <p:cNvPr id="12" name="Text 10"/>
          <p:cNvSpPr/>
          <p:nvPr/>
        </p:nvSpPr>
        <p:spPr>
          <a:xfrm>
            <a:off x="1371600" y="3547872"/>
            <a:ext cx="10241280" cy="45720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System produces recommendations with implementation paths. Human authority approves before action. Audit trail captures both recommendation and approval.</a:t>
            </a:r>
            <a:endParaRPr lang="en-US" sz="1200" dirty="0"/>
          </a:p>
        </p:txBody>
      </p:sp>
      <p:sp>
        <p:nvSpPr>
          <p:cNvPr id="13" name="Shape 11"/>
          <p:cNvSpPr/>
          <p:nvPr/>
        </p:nvSpPr>
        <p:spPr>
          <a:xfrm>
            <a:off x="548640" y="4242816"/>
            <a:ext cx="548640" cy="548640"/>
          </a:xfrm>
          <a:prstGeom prst="ellipse">
            <a:avLst/>
          </a:prstGeom>
          <a:solidFill>
            <a:srgbClr val="8B2E2E"/>
          </a:solidFill>
          <a:ln w="12700">
            <a:solidFill>
              <a:srgbClr val="8B2E2E"/>
            </a:solidFill>
            <a:prstDash val="solid"/>
          </a:ln>
        </p:spPr>
      </p:sp>
      <p:sp>
        <p:nvSpPr>
          <p:cNvPr id="14" name="Text 12"/>
          <p:cNvSpPr/>
          <p:nvPr/>
        </p:nvSpPr>
        <p:spPr>
          <a:xfrm>
            <a:off x="548640" y="4242816"/>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15" name="Text 13"/>
          <p:cNvSpPr/>
          <p:nvPr/>
        </p:nvSpPr>
        <p:spPr>
          <a:xfrm>
            <a:off x="1371600" y="4169664"/>
            <a:ext cx="10241280" cy="320040"/>
          </a:xfrm>
          <a:prstGeom prst="rect">
            <a:avLst/>
          </a:prstGeom>
          <a:noFill/>
          <a:ln/>
        </p:spPr>
        <p:txBody>
          <a:bodyPr wrap="square" lIns="0" tIns="0" rIns="0" bIns="0" rtlCol="0" anchor="t"/>
          <a:lstStyle/>
          <a:p>
            <a:pPr algn="l" indent="0" marL="0">
              <a:buNone/>
            </a:pPr>
            <a:r>
              <a:rPr lang="en-US" sz="1400" b="1" spc="150" kern="0" dirty="0">
                <a:solidFill>
                  <a:srgbClr val="8B2E2E"/>
                </a:solidFill>
                <a:latin typeface="Calibri" pitchFamily="34" charset="0"/>
                <a:ea typeface="Calibri" pitchFamily="34" charset="-122"/>
                <a:cs typeface="Calibri" pitchFamily="34" charset="-120"/>
              </a:rPr>
              <a:t>AUTOMATED WITH AUDIT</a:t>
            </a:r>
            <a:endParaRPr lang="en-US" sz="1400" dirty="0"/>
          </a:p>
        </p:txBody>
      </p:sp>
      <p:sp>
        <p:nvSpPr>
          <p:cNvPr id="16" name="Text 14"/>
          <p:cNvSpPr/>
          <p:nvPr/>
        </p:nvSpPr>
        <p:spPr>
          <a:xfrm>
            <a:off x="1371600" y="4489704"/>
            <a:ext cx="10241280" cy="45720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System executes within bounded scope without prior human approval. Every action audited. Human authority reviews audit records periodically and on exception.</a:t>
            </a:r>
            <a:endParaRPr lang="en-US" sz="1200" dirty="0"/>
          </a:p>
        </p:txBody>
      </p:sp>
      <p:sp>
        <p:nvSpPr>
          <p:cNvPr id="17" name="Shape 15"/>
          <p:cNvSpPr/>
          <p:nvPr/>
        </p:nvSpPr>
        <p:spPr>
          <a:xfrm>
            <a:off x="548640" y="5184648"/>
            <a:ext cx="548640" cy="548640"/>
          </a:xfrm>
          <a:prstGeom prst="ellipse">
            <a:avLst/>
          </a:prstGeom>
          <a:solidFill>
            <a:srgbClr val="8B2E2E"/>
          </a:solidFill>
          <a:ln w="12700">
            <a:solidFill>
              <a:srgbClr val="8B2E2E"/>
            </a:solidFill>
            <a:prstDash val="solid"/>
          </a:ln>
        </p:spPr>
      </p:sp>
      <p:sp>
        <p:nvSpPr>
          <p:cNvPr id="18" name="Text 16"/>
          <p:cNvSpPr/>
          <p:nvPr/>
        </p:nvSpPr>
        <p:spPr>
          <a:xfrm>
            <a:off x="548640" y="5184648"/>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19" name="Text 17"/>
          <p:cNvSpPr/>
          <p:nvPr/>
        </p:nvSpPr>
        <p:spPr>
          <a:xfrm>
            <a:off x="1371600" y="5111496"/>
            <a:ext cx="10241280" cy="320040"/>
          </a:xfrm>
          <a:prstGeom prst="rect">
            <a:avLst/>
          </a:prstGeom>
          <a:noFill/>
          <a:ln/>
        </p:spPr>
        <p:txBody>
          <a:bodyPr wrap="square" lIns="0" tIns="0" rIns="0" bIns="0" rtlCol="0" anchor="t"/>
          <a:lstStyle/>
          <a:p>
            <a:pPr algn="l" indent="0" marL="0">
              <a:buNone/>
            </a:pPr>
            <a:r>
              <a:rPr lang="en-US" sz="1400" b="1" spc="150" kern="0" dirty="0">
                <a:solidFill>
                  <a:srgbClr val="8B2E2E"/>
                </a:solidFill>
                <a:latin typeface="Calibri" pitchFamily="34" charset="0"/>
                <a:ea typeface="Calibri" pitchFamily="34" charset="-122"/>
                <a:cs typeface="Calibri" pitchFamily="34" charset="-120"/>
              </a:rPr>
              <a:t>FULLY AUTONOMOUS</a:t>
            </a:r>
            <a:endParaRPr lang="en-US" sz="1400" dirty="0"/>
          </a:p>
        </p:txBody>
      </p:sp>
      <p:sp>
        <p:nvSpPr>
          <p:cNvPr id="20" name="Text 18"/>
          <p:cNvSpPr/>
          <p:nvPr/>
        </p:nvSpPr>
        <p:spPr>
          <a:xfrm>
            <a:off x="1371600" y="5431536"/>
            <a:ext cx="10241280" cy="457200"/>
          </a:xfrm>
          <a:prstGeom prst="rect">
            <a:avLst/>
          </a:prstGeom>
          <a:noFill/>
          <a:ln/>
        </p:spPr>
        <p:txBody>
          <a:bodyPr wrap="square" lIns="0" tIns="0" rIns="0" bIns="0" rtlCol="0" anchor="t"/>
          <a:lstStyle/>
          <a:p>
            <a:pPr algn="l" indent="0" marL="0">
              <a:buNone/>
            </a:pPr>
            <a:r>
              <a:rPr lang="en-US" sz="1200" dirty="0">
                <a:solidFill>
                  <a:srgbClr val="1A1A1A"/>
                </a:solidFill>
                <a:latin typeface="Calibri" pitchFamily="34" charset="0"/>
                <a:ea typeface="Calibri" pitchFamily="34" charset="-122"/>
                <a:cs typeface="Calibri" pitchFamily="34" charset="-120"/>
              </a:rPr>
              <a:t>System operates without per-action human gating within declared mission scope. Reserved for narrow domains with strong runtime assurance. Requires the highest level of governance review.</a:t>
            </a:r>
            <a:endParaRPr lang="en-US" sz="1200" dirty="0"/>
          </a:p>
        </p:txBody>
      </p:sp>
      <p:sp>
        <p:nvSpPr>
          <p:cNvPr id="21" name="Text 19"/>
          <p:cNvSpPr/>
          <p:nvPr/>
        </p:nvSpPr>
        <p:spPr>
          <a:xfrm>
            <a:off x="548640" y="6355080"/>
            <a:ext cx="11064240" cy="365760"/>
          </a:xfrm>
          <a:prstGeom prst="rect">
            <a:avLst/>
          </a:prstGeom>
          <a:noFill/>
          <a:ln/>
        </p:spPr>
        <p:txBody>
          <a:bodyPr wrap="square" lIns="0" tIns="0" rIns="0" bIns="0" rtlCol="0" anchor="ctr"/>
          <a:lstStyle/>
          <a:p>
            <a:pPr algn="ctr" indent="0" marL="0">
              <a:buNone/>
            </a:pPr>
            <a:r>
              <a:rPr lang="en-US" sz="1100" i="1" dirty="0">
                <a:solidFill>
                  <a:srgbClr val="6B6B6B"/>
                </a:solidFill>
                <a:latin typeface="Calibri" pitchFamily="34" charset="0"/>
                <a:ea typeface="Calibri" pitchFamily="34" charset="-122"/>
                <a:cs typeface="Calibri" pitchFamily="34" charset="-120"/>
              </a:rPr>
              <a:t>Advancing from one level to the next is a governance act, not an engineering decision.  Trust is earned through evidence, not asserted by capability.</a:t>
            </a:r>
            <a:endParaRPr lang="en-US" sz="1100" dirty="0"/>
          </a:p>
        </p:txBody>
      </p:sp>
      <p:sp>
        <p:nvSpPr>
          <p:cNvPr id="22" name="Text 20"/>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10  ·  ADOPTION</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What adoption looks like</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Typical first actions, by audience</a:t>
            </a:r>
            <a:endParaRPr lang="en-US" sz="1400" dirty="0"/>
          </a:p>
        </p:txBody>
      </p:sp>
      <p:sp>
        <p:nvSpPr>
          <p:cNvPr id="5" name="Shape 3"/>
          <p:cNvSpPr/>
          <p:nvPr/>
        </p:nvSpPr>
        <p:spPr>
          <a:xfrm>
            <a:off x="548640" y="2103120"/>
            <a:ext cx="3535680" cy="4023360"/>
          </a:xfrm>
          <a:prstGeom prst="rect">
            <a:avLst/>
          </a:prstGeom>
          <a:solidFill>
            <a:srgbClr val="F0EFEA"/>
          </a:solidFill>
          <a:ln w="6350">
            <a:solidFill>
              <a:srgbClr val="D8D6CE"/>
            </a:solidFill>
            <a:prstDash val="solid"/>
          </a:ln>
        </p:spPr>
      </p:sp>
      <p:sp>
        <p:nvSpPr>
          <p:cNvPr id="6" name="Shape 4"/>
          <p:cNvSpPr/>
          <p:nvPr/>
        </p:nvSpPr>
        <p:spPr>
          <a:xfrm>
            <a:off x="548640" y="2103120"/>
            <a:ext cx="3535680" cy="54864"/>
          </a:xfrm>
          <a:prstGeom prst="rect">
            <a:avLst/>
          </a:prstGeom>
          <a:solidFill>
            <a:srgbClr val="8B2E2E"/>
          </a:solidFill>
          <a:ln w="12700">
            <a:solidFill>
              <a:srgbClr val="8B2E2E"/>
            </a:solidFill>
            <a:prstDash val="solid"/>
          </a:ln>
        </p:spPr>
      </p:sp>
      <p:sp>
        <p:nvSpPr>
          <p:cNvPr id="7" name="Text 5"/>
          <p:cNvSpPr/>
          <p:nvPr/>
        </p:nvSpPr>
        <p:spPr>
          <a:xfrm>
            <a:off x="777240" y="2286000"/>
            <a:ext cx="3078480" cy="320040"/>
          </a:xfrm>
          <a:prstGeom prst="rect">
            <a:avLst/>
          </a:prstGeom>
          <a:noFill/>
          <a:ln/>
        </p:spPr>
        <p:txBody>
          <a:bodyPr wrap="square" lIns="0" tIns="0" rIns="0" bIns="0" rtlCol="0" anchor="t"/>
          <a:lstStyle/>
          <a:p>
            <a:pPr algn="l" indent="0" marL="0">
              <a:buNone/>
            </a:pPr>
            <a:r>
              <a:rPr lang="en-US" sz="1300" b="1" spc="200" kern="0" dirty="0">
                <a:solidFill>
                  <a:srgbClr val="8B2E2E"/>
                </a:solidFill>
                <a:latin typeface="Calibri" pitchFamily="34" charset="0"/>
                <a:ea typeface="Calibri" pitchFamily="34" charset="-122"/>
                <a:cs typeface="Calibri" pitchFamily="34" charset="-120"/>
              </a:rPr>
              <a:t>ENGINEERING</a:t>
            </a:r>
            <a:endParaRPr lang="en-US" sz="1300" dirty="0"/>
          </a:p>
        </p:txBody>
      </p:sp>
      <p:sp>
        <p:nvSpPr>
          <p:cNvPr id="8" name="Text 6"/>
          <p:cNvSpPr/>
          <p:nvPr/>
        </p:nvSpPr>
        <p:spPr>
          <a:xfrm>
            <a:off x="777240" y="2606040"/>
            <a:ext cx="3078480" cy="365760"/>
          </a:xfrm>
          <a:prstGeom prst="rect">
            <a:avLst/>
          </a:prstGeom>
          <a:noFill/>
          <a:ln/>
        </p:spPr>
        <p:txBody>
          <a:bodyPr wrap="square" lIns="0" tIns="0" rIns="0" bIns="0" rtlCol="0" anchor="t"/>
          <a:lstStyle/>
          <a:p>
            <a:pPr algn="l" indent="0" marL="0">
              <a:buNone/>
            </a:pPr>
            <a:r>
              <a:rPr lang="en-US" sz="1000" i="1" dirty="0">
                <a:solidFill>
                  <a:srgbClr val="6B6B6B"/>
                </a:solidFill>
                <a:latin typeface="Calibri" pitchFamily="34" charset="0"/>
                <a:ea typeface="Calibri" pitchFamily="34" charset="-122"/>
                <a:cs typeface="Calibri" pitchFamily="34" charset="-120"/>
              </a:rPr>
              <a:t>Systems engineering, chief engineer's office</a:t>
            </a:r>
            <a:endParaRPr lang="en-US" sz="1000" dirty="0"/>
          </a:p>
        </p:txBody>
      </p:sp>
      <p:sp>
        <p:nvSpPr>
          <p:cNvPr id="9" name="Text 7"/>
          <p:cNvSpPr/>
          <p:nvPr/>
        </p:nvSpPr>
        <p:spPr>
          <a:xfrm>
            <a:off x="777240" y="3063240"/>
            <a:ext cx="3078480" cy="2971800"/>
          </a:xfrm>
          <a:prstGeom prst="rect">
            <a:avLst/>
          </a:prstGeom>
          <a:noFill/>
          <a:ln/>
        </p:spPr>
        <p:txBody>
          <a:bodyPr wrap="square" lIns="0" tIns="0" rIns="0" bIns="0" rtlCol="0" anchor="t"/>
          <a:lstStyle/>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Instantiate the WBS as a Modus Primus instance for the target domain</a:t>
            </a:r>
            <a:endParaRPr lang="en-US" sz="1100" dirty="0"/>
          </a:p>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Populate the per-enclave tech baseline template (Appendix D) for the first enclave</a:t>
            </a:r>
            <a:endParaRPr lang="en-US" sz="1100" dirty="0"/>
          </a:p>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Stand up the four V&amp;V instruments at minimum viable fidelity</a:t>
            </a:r>
            <a:endParaRPr lang="en-US" sz="1100" dirty="0"/>
          </a:p>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Initiate runtime assurance signals early: the longest-lead engineering effort</a:t>
            </a:r>
            <a:endParaRPr lang="en-US" sz="1100" dirty="0"/>
          </a:p>
        </p:txBody>
      </p:sp>
      <p:sp>
        <p:nvSpPr>
          <p:cNvPr id="10" name="Shape 8"/>
          <p:cNvSpPr/>
          <p:nvPr/>
        </p:nvSpPr>
        <p:spPr>
          <a:xfrm>
            <a:off x="4312920" y="2103120"/>
            <a:ext cx="3535680" cy="4023360"/>
          </a:xfrm>
          <a:prstGeom prst="rect">
            <a:avLst/>
          </a:prstGeom>
          <a:solidFill>
            <a:srgbClr val="F0EFEA"/>
          </a:solidFill>
          <a:ln w="6350">
            <a:solidFill>
              <a:srgbClr val="D8D6CE"/>
            </a:solidFill>
            <a:prstDash val="solid"/>
          </a:ln>
        </p:spPr>
      </p:sp>
      <p:sp>
        <p:nvSpPr>
          <p:cNvPr id="11" name="Shape 9"/>
          <p:cNvSpPr/>
          <p:nvPr/>
        </p:nvSpPr>
        <p:spPr>
          <a:xfrm>
            <a:off x="4312920" y="2103120"/>
            <a:ext cx="3535680" cy="54864"/>
          </a:xfrm>
          <a:prstGeom prst="rect">
            <a:avLst/>
          </a:prstGeom>
          <a:solidFill>
            <a:srgbClr val="8B2E2E"/>
          </a:solidFill>
          <a:ln w="12700">
            <a:solidFill>
              <a:srgbClr val="8B2E2E"/>
            </a:solidFill>
            <a:prstDash val="solid"/>
          </a:ln>
        </p:spPr>
      </p:sp>
      <p:sp>
        <p:nvSpPr>
          <p:cNvPr id="12" name="Text 10"/>
          <p:cNvSpPr/>
          <p:nvPr/>
        </p:nvSpPr>
        <p:spPr>
          <a:xfrm>
            <a:off x="4541520" y="2286000"/>
            <a:ext cx="3078480" cy="320040"/>
          </a:xfrm>
          <a:prstGeom prst="rect">
            <a:avLst/>
          </a:prstGeom>
          <a:noFill/>
          <a:ln/>
        </p:spPr>
        <p:txBody>
          <a:bodyPr wrap="square" lIns="0" tIns="0" rIns="0" bIns="0" rtlCol="0" anchor="t"/>
          <a:lstStyle/>
          <a:p>
            <a:pPr algn="l" indent="0" marL="0">
              <a:buNone/>
            </a:pPr>
            <a:r>
              <a:rPr lang="en-US" sz="1300" b="1" spc="200" kern="0" dirty="0">
                <a:solidFill>
                  <a:srgbClr val="8B2E2E"/>
                </a:solidFill>
                <a:latin typeface="Calibri" pitchFamily="34" charset="0"/>
                <a:ea typeface="Calibri" pitchFamily="34" charset="-122"/>
                <a:cs typeface="Calibri" pitchFamily="34" charset="-120"/>
              </a:rPr>
              <a:t>GOVERNANCE</a:t>
            </a:r>
            <a:endParaRPr lang="en-US" sz="1300" dirty="0"/>
          </a:p>
        </p:txBody>
      </p:sp>
      <p:sp>
        <p:nvSpPr>
          <p:cNvPr id="13" name="Text 11"/>
          <p:cNvSpPr/>
          <p:nvPr/>
        </p:nvSpPr>
        <p:spPr>
          <a:xfrm>
            <a:off x="4541520" y="2606040"/>
            <a:ext cx="3078480" cy="365760"/>
          </a:xfrm>
          <a:prstGeom prst="rect">
            <a:avLst/>
          </a:prstGeom>
          <a:noFill/>
          <a:ln/>
        </p:spPr>
        <p:txBody>
          <a:bodyPr wrap="square" lIns="0" tIns="0" rIns="0" bIns="0" rtlCol="0" anchor="t"/>
          <a:lstStyle/>
          <a:p>
            <a:pPr algn="l" indent="0" marL="0">
              <a:buNone/>
            </a:pPr>
            <a:r>
              <a:rPr lang="en-US" sz="1000" i="1" dirty="0">
                <a:solidFill>
                  <a:srgbClr val="6B6B6B"/>
                </a:solidFill>
                <a:latin typeface="Calibri" pitchFamily="34" charset="0"/>
                <a:ea typeface="Calibri" pitchFamily="34" charset="-122"/>
                <a:cs typeface="Calibri" pitchFamily="34" charset="-120"/>
              </a:rPr>
              <a:t>Architecture governance, compliance, security</a:t>
            </a:r>
            <a:endParaRPr lang="en-US" sz="1000" dirty="0"/>
          </a:p>
        </p:txBody>
      </p:sp>
      <p:sp>
        <p:nvSpPr>
          <p:cNvPr id="14" name="Text 12"/>
          <p:cNvSpPr/>
          <p:nvPr/>
        </p:nvSpPr>
        <p:spPr>
          <a:xfrm>
            <a:off x="4541520" y="3063240"/>
            <a:ext cx="3078480" cy="2971800"/>
          </a:xfrm>
          <a:prstGeom prst="rect">
            <a:avLst/>
          </a:prstGeom>
          <a:noFill/>
          <a:ln/>
        </p:spPr>
        <p:txBody>
          <a:bodyPr wrap="square" lIns="0" tIns="0" rIns="0" bIns="0" rtlCol="0" anchor="t"/>
          <a:lstStyle/>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Approve ownership assignments for the five-M files</a:t>
            </a:r>
            <a:endParaRPr lang="en-US" sz="1100" dirty="0"/>
          </a:p>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Define trust escalation thresholds and triggers in execution-policy.md</a:t>
            </a:r>
            <a:endParaRPr lang="en-US" sz="1100" dirty="0"/>
          </a:p>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Set review cadences for the WBS and per-enclave tech baselines</a:t>
            </a:r>
            <a:endParaRPr lang="en-US" sz="1100" dirty="0"/>
          </a:p>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Establish the means election review process as a working forum</a:t>
            </a:r>
            <a:endParaRPr lang="en-US" sz="1100" dirty="0"/>
          </a:p>
        </p:txBody>
      </p:sp>
      <p:sp>
        <p:nvSpPr>
          <p:cNvPr id="15" name="Shape 13"/>
          <p:cNvSpPr/>
          <p:nvPr/>
        </p:nvSpPr>
        <p:spPr>
          <a:xfrm>
            <a:off x="8077200" y="2103120"/>
            <a:ext cx="3535680" cy="4023360"/>
          </a:xfrm>
          <a:prstGeom prst="rect">
            <a:avLst/>
          </a:prstGeom>
          <a:solidFill>
            <a:srgbClr val="F0EFEA"/>
          </a:solidFill>
          <a:ln w="6350">
            <a:solidFill>
              <a:srgbClr val="D8D6CE"/>
            </a:solidFill>
            <a:prstDash val="solid"/>
          </a:ln>
        </p:spPr>
      </p:sp>
      <p:sp>
        <p:nvSpPr>
          <p:cNvPr id="16" name="Shape 14"/>
          <p:cNvSpPr/>
          <p:nvPr/>
        </p:nvSpPr>
        <p:spPr>
          <a:xfrm>
            <a:off x="8077200" y="2103120"/>
            <a:ext cx="3535680" cy="54864"/>
          </a:xfrm>
          <a:prstGeom prst="rect">
            <a:avLst/>
          </a:prstGeom>
          <a:solidFill>
            <a:srgbClr val="8B2E2E"/>
          </a:solidFill>
          <a:ln w="12700">
            <a:solidFill>
              <a:srgbClr val="8B2E2E"/>
            </a:solidFill>
            <a:prstDash val="solid"/>
          </a:ln>
        </p:spPr>
      </p:sp>
      <p:sp>
        <p:nvSpPr>
          <p:cNvPr id="17" name="Text 15"/>
          <p:cNvSpPr/>
          <p:nvPr/>
        </p:nvSpPr>
        <p:spPr>
          <a:xfrm>
            <a:off x="8305800" y="2286000"/>
            <a:ext cx="3078480" cy="320040"/>
          </a:xfrm>
          <a:prstGeom prst="rect">
            <a:avLst/>
          </a:prstGeom>
          <a:noFill/>
          <a:ln/>
        </p:spPr>
        <p:txBody>
          <a:bodyPr wrap="square" lIns="0" tIns="0" rIns="0" bIns="0" rtlCol="0" anchor="t"/>
          <a:lstStyle/>
          <a:p>
            <a:pPr algn="l" indent="0" marL="0">
              <a:buNone/>
            </a:pPr>
            <a:r>
              <a:rPr lang="en-US" sz="1300" b="1" spc="200" kern="0" dirty="0">
                <a:solidFill>
                  <a:srgbClr val="8B2E2E"/>
                </a:solidFill>
                <a:latin typeface="Calibri" pitchFamily="34" charset="0"/>
                <a:ea typeface="Calibri" pitchFamily="34" charset="-122"/>
                <a:cs typeface="Calibri" pitchFamily="34" charset="-120"/>
              </a:rPr>
              <a:t>PROGRAMS</a:t>
            </a:r>
            <a:endParaRPr lang="en-US" sz="1300" dirty="0"/>
          </a:p>
        </p:txBody>
      </p:sp>
      <p:sp>
        <p:nvSpPr>
          <p:cNvPr id="18" name="Text 16"/>
          <p:cNvSpPr/>
          <p:nvPr/>
        </p:nvSpPr>
        <p:spPr>
          <a:xfrm>
            <a:off x="8305800" y="2606040"/>
            <a:ext cx="3078480" cy="365760"/>
          </a:xfrm>
          <a:prstGeom prst="rect">
            <a:avLst/>
          </a:prstGeom>
          <a:noFill/>
          <a:ln/>
        </p:spPr>
        <p:txBody>
          <a:bodyPr wrap="square" lIns="0" tIns="0" rIns="0" bIns="0" rtlCol="0" anchor="t"/>
          <a:lstStyle/>
          <a:p>
            <a:pPr algn="l" indent="0" marL="0">
              <a:buNone/>
            </a:pPr>
            <a:r>
              <a:rPr lang="en-US" sz="1000" i="1" dirty="0">
                <a:solidFill>
                  <a:srgbClr val="6B6B6B"/>
                </a:solidFill>
                <a:latin typeface="Calibri" pitchFamily="34" charset="0"/>
                <a:ea typeface="Calibri" pitchFamily="34" charset="-122"/>
                <a:cs typeface="Calibri" pitchFamily="34" charset="-120"/>
              </a:rPr>
              <a:t>Program managers, capability architects</a:t>
            </a:r>
            <a:endParaRPr lang="en-US" sz="1000" dirty="0"/>
          </a:p>
        </p:txBody>
      </p:sp>
      <p:sp>
        <p:nvSpPr>
          <p:cNvPr id="19" name="Text 17"/>
          <p:cNvSpPr/>
          <p:nvPr/>
        </p:nvSpPr>
        <p:spPr>
          <a:xfrm>
            <a:off x="8305800" y="3063240"/>
            <a:ext cx="3078480" cy="2971800"/>
          </a:xfrm>
          <a:prstGeom prst="rect">
            <a:avLst/>
          </a:prstGeom>
          <a:noFill/>
          <a:ln/>
        </p:spPr>
        <p:txBody>
          <a:bodyPr wrap="square" lIns="0" tIns="0" rIns="0" bIns="0" rtlCol="0" anchor="t"/>
          <a:lstStyle/>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Author initial agent contracts for the program's key Tertius agents</a:t>
            </a:r>
            <a:endParaRPr lang="en-US" sz="1100" dirty="0"/>
          </a:p>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Identify candidate mechanisms that would benefit from purposive election</a:t>
            </a:r>
            <a:endParaRPr lang="en-US" sz="1100" dirty="0"/>
          </a:p>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Integrate runtime assurance signals into program-level dashboards</a:t>
            </a:r>
            <a:endParaRPr lang="en-US" sz="1100" dirty="0"/>
          </a:p>
          <a:p>
            <a:pPr algn="l" marL="342900" indent="-342900">
              <a:spcAft>
                <a:spcPts val="600"/>
              </a:spcAft>
              <a:buSzPct val="100000"/>
              <a:buChar char="■"/>
            </a:pPr>
            <a:r>
              <a:rPr lang="en-US" sz="1100" dirty="0">
                <a:solidFill>
                  <a:srgbClr val="1A1A1A"/>
                </a:solidFill>
                <a:latin typeface="Calibri" pitchFamily="34" charset="0"/>
                <a:ea typeface="Calibri" pitchFamily="34" charset="-122"/>
                <a:cs typeface="Calibri" pitchFamily="34" charset="-120"/>
              </a:rPr>
              <a:t>Establish federation contract obligations with the parent Secundus instance</a:t>
            </a:r>
            <a:endParaRPr lang="en-US" sz="1100" dirty="0"/>
          </a:p>
        </p:txBody>
      </p:sp>
      <p:sp>
        <p:nvSpPr>
          <p:cNvPr id="20" name="Text 18"/>
          <p:cNvSpPr/>
          <p:nvPr/>
        </p:nvSpPr>
        <p:spPr>
          <a:xfrm>
            <a:off x="548640" y="6400800"/>
            <a:ext cx="11064240" cy="274320"/>
          </a:xfrm>
          <a:prstGeom prst="rect">
            <a:avLst/>
          </a:prstGeom>
          <a:noFill/>
          <a:ln/>
        </p:spPr>
        <p:txBody>
          <a:bodyPr wrap="square" lIns="0" tIns="0" rIns="0" bIns="0" rtlCol="0" anchor="ctr"/>
          <a:lstStyle/>
          <a:p>
            <a:pPr algn="ctr" indent="0" marL="0">
              <a:buNone/>
            </a:pPr>
            <a:r>
              <a:rPr lang="en-US" sz="1000" i="1" dirty="0">
                <a:solidFill>
                  <a:srgbClr val="6B6B6B"/>
                </a:solidFill>
                <a:latin typeface="Calibri" pitchFamily="34" charset="0"/>
                <a:ea typeface="Calibri" pitchFamily="34" charset="-122"/>
                <a:cs typeface="Calibri" pitchFamily="34" charset="-120"/>
              </a:rPr>
              <a:t>Descriptive of common adoption patterns, not prescriptive. Specific sequencing depends on enterprise context.</a:t>
            </a:r>
            <a:endParaRPr lang="en-US" sz="1000" dirty="0"/>
          </a:p>
        </p:txBody>
      </p:sp>
      <p:sp>
        <p:nvSpPr>
          <p:cNvPr id="21" name="Text 19"/>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11  ·  SCOPE</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What Modus Primus is not</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Explicit out-of-scope. Manage expectations early.</a:t>
            </a:r>
            <a:endParaRPr lang="en-US" sz="1400" dirty="0"/>
          </a:p>
        </p:txBody>
      </p:sp>
      <p:sp>
        <p:nvSpPr>
          <p:cNvPr id="5" name="Shape 3"/>
          <p:cNvSpPr/>
          <p:nvPr/>
        </p:nvSpPr>
        <p:spPr>
          <a:xfrm>
            <a:off x="548640" y="2194560"/>
            <a:ext cx="5349240" cy="1280160"/>
          </a:xfrm>
          <a:prstGeom prst="rect">
            <a:avLst/>
          </a:prstGeom>
          <a:solidFill>
            <a:srgbClr val="F0EFEA"/>
          </a:solidFill>
          <a:ln w="6350">
            <a:solidFill>
              <a:srgbClr val="D8D6CE"/>
            </a:solidFill>
            <a:prstDash val="solid"/>
          </a:ln>
        </p:spPr>
      </p:sp>
      <p:sp>
        <p:nvSpPr>
          <p:cNvPr id="6" name="Shape 4"/>
          <p:cNvSpPr/>
          <p:nvPr/>
        </p:nvSpPr>
        <p:spPr>
          <a:xfrm>
            <a:off x="548640" y="2194560"/>
            <a:ext cx="54864" cy="1280160"/>
          </a:xfrm>
          <a:prstGeom prst="rect">
            <a:avLst/>
          </a:prstGeom>
          <a:solidFill>
            <a:srgbClr val="8B2E2E"/>
          </a:solidFill>
          <a:ln w="12700">
            <a:solidFill>
              <a:srgbClr val="8B2E2E"/>
            </a:solidFill>
            <a:prstDash val="solid"/>
          </a:ln>
        </p:spPr>
      </p:sp>
      <p:sp>
        <p:nvSpPr>
          <p:cNvPr id="7" name="Text 5"/>
          <p:cNvSpPr/>
          <p:nvPr/>
        </p:nvSpPr>
        <p:spPr>
          <a:xfrm>
            <a:off x="777240" y="2331720"/>
            <a:ext cx="4983480" cy="320040"/>
          </a:xfrm>
          <a:prstGeom prst="rect">
            <a:avLst/>
          </a:prstGeom>
          <a:noFill/>
          <a:ln/>
        </p:spPr>
        <p:txBody>
          <a:bodyPr wrap="square" lIns="0" tIns="0" rIns="0" bIns="0" rtlCol="0" anchor="t"/>
          <a:lstStyle/>
          <a:p>
            <a:pPr algn="l" indent="0" marL="0">
              <a:buNone/>
            </a:pPr>
            <a:r>
              <a:rPr lang="en-US" sz="1300" b="1" dirty="0">
                <a:solidFill>
                  <a:srgbClr val="1A1A1A"/>
                </a:solidFill>
                <a:latin typeface="Georgia" pitchFamily="34" charset="0"/>
                <a:ea typeface="Georgia" pitchFamily="34" charset="-122"/>
                <a:cs typeface="Georgia" pitchFamily="34" charset="-120"/>
              </a:rPr>
              <a:t>Detailed IAM implementation</a:t>
            </a:r>
            <a:endParaRPr lang="en-US" sz="1300" dirty="0"/>
          </a:p>
        </p:txBody>
      </p:sp>
      <p:sp>
        <p:nvSpPr>
          <p:cNvPr id="8" name="Text 6"/>
          <p:cNvSpPr/>
          <p:nvPr/>
        </p:nvSpPr>
        <p:spPr>
          <a:xfrm>
            <a:off x="777240" y="2697480"/>
            <a:ext cx="4983480" cy="685800"/>
          </a:xfrm>
          <a:prstGeom prst="rect">
            <a:avLst/>
          </a:prstGeom>
          <a:noFill/>
          <a:ln/>
        </p:spPr>
        <p:txBody>
          <a:bodyPr wrap="square" lIns="0" tIns="0" rIns="0" bIns="0" rtlCol="0" anchor="t"/>
          <a:lstStyle/>
          <a:p>
            <a:pPr algn="l" indent="0" marL="0">
              <a:buNone/>
            </a:pPr>
            <a:r>
              <a:rPr lang="en-US" sz="1050" dirty="0">
                <a:solidFill>
                  <a:srgbClr val="1A1A1A"/>
                </a:solidFill>
                <a:latin typeface="Calibri" pitchFamily="34" charset="0"/>
                <a:ea typeface="Calibri" pitchFamily="34" charset="-122"/>
                <a:cs typeface="Calibri" pitchFamily="34" charset="-120"/>
              </a:rPr>
              <a:t>The spec cites IAM constraints and trust escalation primitives. Identity provider choice, credential issuance, and session management remain enterprise IAM concerns.</a:t>
            </a:r>
            <a:endParaRPr lang="en-US" sz="1050" dirty="0"/>
          </a:p>
        </p:txBody>
      </p:sp>
      <p:sp>
        <p:nvSpPr>
          <p:cNvPr id="9" name="Shape 7"/>
          <p:cNvSpPr/>
          <p:nvPr/>
        </p:nvSpPr>
        <p:spPr>
          <a:xfrm>
            <a:off x="6263640" y="2194560"/>
            <a:ext cx="5349240" cy="1280160"/>
          </a:xfrm>
          <a:prstGeom prst="rect">
            <a:avLst/>
          </a:prstGeom>
          <a:solidFill>
            <a:srgbClr val="F0EFEA"/>
          </a:solidFill>
          <a:ln w="6350">
            <a:solidFill>
              <a:srgbClr val="D8D6CE"/>
            </a:solidFill>
            <a:prstDash val="solid"/>
          </a:ln>
        </p:spPr>
      </p:sp>
      <p:sp>
        <p:nvSpPr>
          <p:cNvPr id="10" name="Shape 8"/>
          <p:cNvSpPr/>
          <p:nvPr/>
        </p:nvSpPr>
        <p:spPr>
          <a:xfrm>
            <a:off x="6263640" y="2194560"/>
            <a:ext cx="54864" cy="1280160"/>
          </a:xfrm>
          <a:prstGeom prst="rect">
            <a:avLst/>
          </a:prstGeom>
          <a:solidFill>
            <a:srgbClr val="8B2E2E"/>
          </a:solidFill>
          <a:ln w="12700">
            <a:solidFill>
              <a:srgbClr val="8B2E2E"/>
            </a:solidFill>
            <a:prstDash val="solid"/>
          </a:ln>
        </p:spPr>
      </p:sp>
      <p:sp>
        <p:nvSpPr>
          <p:cNvPr id="11" name="Text 9"/>
          <p:cNvSpPr/>
          <p:nvPr/>
        </p:nvSpPr>
        <p:spPr>
          <a:xfrm>
            <a:off x="6492240" y="2331720"/>
            <a:ext cx="4983480" cy="320040"/>
          </a:xfrm>
          <a:prstGeom prst="rect">
            <a:avLst/>
          </a:prstGeom>
          <a:noFill/>
          <a:ln/>
        </p:spPr>
        <p:txBody>
          <a:bodyPr wrap="square" lIns="0" tIns="0" rIns="0" bIns="0" rtlCol="0" anchor="t"/>
          <a:lstStyle/>
          <a:p>
            <a:pPr algn="l" indent="0" marL="0">
              <a:buNone/>
            </a:pPr>
            <a:r>
              <a:rPr lang="en-US" sz="1300" b="1" dirty="0">
                <a:solidFill>
                  <a:srgbClr val="1A1A1A"/>
                </a:solidFill>
                <a:latin typeface="Georgia" pitchFamily="34" charset="0"/>
                <a:ea typeface="Georgia" pitchFamily="34" charset="-122"/>
                <a:cs typeface="Georgia" pitchFamily="34" charset="-120"/>
              </a:rPr>
              <a:t>Model selection and tuning recipes</a:t>
            </a:r>
            <a:endParaRPr lang="en-US" sz="1300" dirty="0"/>
          </a:p>
        </p:txBody>
      </p:sp>
      <p:sp>
        <p:nvSpPr>
          <p:cNvPr id="12" name="Text 10"/>
          <p:cNvSpPr/>
          <p:nvPr/>
        </p:nvSpPr>
        <p:spPr>
          <a:xfrm>
            <a:off x="6492240" y="2697480"/>
            <a:ext cx="4983480" cy="685800"/>
          </a:xfrm>
          <a:prstGeom prst="rect">
            <a:avLst/>
          </a:prstGeom>
          <a:noFill/>
          <a:ln/>
        </p:spPr>
        <p:txBody>
          <a:bodyPr wrap="square" lIns="0" tIns="0" rIns="0" bIns="0" rtlCol="0" anchor="t"/>
          <a:lstStyle/>
          <a:p>
            <a:pPr algn="l" indent="0" marL="0">
              <a:buNone/>
            </a:pPr>
            <a:r>
              <a:rPr lang="en-US" sz="1050" dirty="0">
                <a:solidFill>
                  <a:srgbClr val="1A1A1A"/>
                </a:solidFill>
                <a:latin typeface="Calibri" pitchFamily="34" charset="0"/>
                <a:ea typeface="Calibri" pitchFamily="34" charset="-122"/>
                <a:cs typeface="Calibri" pitchFamily="34" charset="-120"/>
              </a:rPr>
              <a:t>The spec cites the Cognitive Engine layer and substrate substitution V&amp;V. Specific model selection and fine-tuning live in per-enclave tech baselines, not the WBS.</a:t>
            </a:r>
            <a:endParaRPr lang="en-US" sz="1050" dirty="0"/>
          </a:p>
        </p:txBody>
      </p:sp>
      <p:sp>
        <p:nvSpPr>
          <p:cNvPr id="13" name="Shape 11"/>
          <p:cNvSpPr/>
          <p:nvPr/>
        </p:nvSpPr>
        <p:spPr>
          <a:xfrm>
            <a:off x="548640" y="3611880"/>
            <a:ext cx="5349240" cy="1280160"/>
          </a:xfrm>
          <a:prstGeom prst="rect">
            <a:avLst/>
          </a:prstGeom>
          <a:solidFill>
            <a:srgbClr val="F0EFEA"/>
          </a:solidFill>
          <a:ln w="6350">
            <a:solidFill>
              <a:srgbClr val="D8D6CE"/>
            </a:solidFill>
            <a:prstDash val="solid"/>
          </a:ln>
        </p:spPr>
      </p:sp>
      <p:sp>
        <p:nvSpPr>
          <p:cNvPr id="14" name="Shape 12"/>
          <p:cNvSpPr/>
          <p:nvPr/>
        </p:nvSpPr>
        <p:spPr>
          <a:xfrm>
            <a:off x="548640" y="3611880"/>
            <a:ext cx="54864" cy="1280160"/>
          </a:xfrm>
          <a:prstGeom prst="rect">
            <a:avLst/>
          </a:prstGeom>
          <a:solidFill>
            <a:srgbClr val="8B2E2E"/>
          </a:solidFill>
          <a:ln w="12700">
            <a:solidFill>
              <a:srgbClr val="8B2E2E"/>
            </a:solidFill>
            <a:prstDash val="solid"/>
          </a:ln>
        </p:spPr>
      </p:sp>
      <p:sp>
        <p:nvSpPr>
          <p:cNvPr id="15" name="Text 13"/>
          <p:cNvSpPr/>
          <p:nvPr/>
        </p:nvSpPr>
        <p:spPr>
          <a:xfrm>
            <a:off x="777240" y="3749040"/>
            <a:ext cx="4983480" cy="320040"/>
          </a:xfrm>
          <a:prstGeom prst="rect">
            <a:avLst/>
          </a:prstGeom>
          <a:noFill/>
          <a:ln/>
        </p:spPr>
        <p:txBody>
          <a:bodyPr wrap="square" lIns="0" tIns="0" rIns="0" bIns="0" rtlCol="0" anchor="t"/>
          <a:lstStyle/>
          <a:p>
            <a:pPr algn="l" indent="0" marL="0">
              <a:buNone/>
            </a:pPr>
            <a:r>
              <a:rPr lang="en-US" sz="1300" b="1" dirty="0">
                <a:solidFill>
                  <a:srgbClr val="1A1A1A"/>
                </a:solidFill>
                <a:latin typeface="Georgia" pitchFamily="34" charset="0"/>
                <a:ea typeface="Georgia" pitchFamily="34" charset="-122"/>
                <a:cs typeface="Georgia" pitchFamily="34" charset="-120"/>
              </a:rPr>
              <a:t>Program management processes</a:t>
            </a:r>
            <a:endParaRPr lang="en-US" sz="1300" dirty="0"/>
          </a:p>
        </p:txBody>
      </p:sp>
      <p:sp>
        <p:nvSpPr>
          <p:cNvPr id="16" name="Text 14"/>
          <p:cNvSpPr/>
          <p:nvPr/>
        </p:nvSpPr>
        <p:spPr>
          <a:xfrm>
            <a:off x="777240" y="4114800"/>
            <a:ext cx="4983480" cy="685800"/>
          </a:xfrm>
          <a:prstGeom prst="rect">
            <a:avLst/>
          </a:prstGeom>
          <a:noFill/>
          <a:ln/>
        </p:spPr>
        <p:txBody>
          <a:bodyPr wrap="square" lIns="0" tIns="0" rIns="0" bIns="0" rtlCol="0" anchor="t"/>
          <a:lstStyle/>
          <a:p>
            <a:pPr algn="l" indent="0" marL="0">
              <a:buNone/>
            </a:pPr>
            <a:r>
              <a:rPr lang="en-US" sz="1050" dirty="0">
                <a:solidFill>
                  <a:srgbClr val="1A1A1A"/>
                </a:solidFill>
                <a:latin typeface="Calibri" pitchFamily="34" charset="0"/>
                <a:ea typeface="Calibri" pitchFamily="34" charset="-122"/>
                <a:cs typeface="Calibri" pitchFamily="34" charset="-120"/>
              </a:rPr>
              <a:t>The spec cites delivery cadences and review gates. Schedule, cost, and staffing methodology are the enterprise's program management domain.</a:t>
            </a:r>
            <a:endParaRPr lang="en-US" sz="1050" dirty="0"/>
          </a:p>
        </p:txBody>
      </p:sp>
      <p:sp>
        <p:nvSpPr>
          <p:cNvPr id="17" name="Shape 15"/>
          <p:cNvSpPr/>
          <p:nvPr/>
        </p:nvSpPr>
        <p:spPr>
          <a:xfrm>
            <a:off x="6263640" y="3611880"/>
            <a:ext cx="5349240" cy="1280160"/>
          </a:xfrm>
          <a:prstGeom prst="rect">
            <a:avLst/>
          </a:prstGeom>
          <a:solidFill>
            <a:srgbClr val="F0EFEA"/>
          </a:solidFill>
          <a:ln w="6350">
            <a:solidFill>
              <a:srgbClr val="D8D6CE"/>
            </a:solidFill>
            <a:prstDash val="solid"/>
          </a:ln>
        </p:spPr>
      </p:sp>
      <p:sp>
        <p:nvSpPr>
          <p:cNvPr id="18" name="Shape 16"/>
          <p:cNvSpPr/>
          <p:nvPr/>
        </p:nvSpPr>
        <p:spPr>
          <a:xfrm>
            <a:off x="6263640" y="3611880"/>
            <a:ext cx="54864" cy="1280160"/>
          </a:xfrm>
          <a:prstGeom prst="rect">
            <a:avLst/>
          </a:prstGeom>
          <a:solidFill>
            <a:srgbClr val="8B2E2E"/>
          </a:solidFill>
          <a:ln w="12700">
            <a:solidFill>
              <a:srgbClr val="8B2E2E"/>
            </a:solidFill>
            <a:prstDash val="solid"/>
          </a:ln>
        </p:spPr>
      </p:sp>
      <p:sp>
        <p:nvSpPr>
          <p:cNvPr id="19" name="Text 17"/>
          <p:cNvSpPr/>
          <p:nvPr/>
        </p:nvSpPr>
        <p:spPr>
          <a:xfrm>
            <a:off x="6492240" y="3749040"/>
            <a:ext cx="4983480" cy="320040"/>
          </a:xfrm>
          <a:prstGeom prst="rect">
            <a:avLst/>
          </a:prstGeom>
          <a:noFill/>
          <a:ln/>
        </p:spPr>
        <p:txBody>
          <a:bodyPr wrap="square" lIns="0" tIns="0" rIns="0" bIns="0" rtlCol="0" anchor="t"/>
          <a:lstStyle/>
          <a:p>
            <a:pPr algn="l" indent="0" marL="0">
              <a:buNone/>
            </a:pPr>
            <a:r>
              <a:rPr lang="en-US" sz="1300" b="1" dirty="0">
                <a:solidFill>
                  <a:srgbClr val="1A1A1A"/>
                </a:solidFill>
                <a:latin typeface="Georgia" pitchFamily="34" charset="0"/>
                <a:ea typeface="Georgia" pitchFamily="34" charset="-122"/>
                <a:cs typeface="Georgia" pitchFamily="34" charset="-120"/>
              </a:rPr>
              <a:t>Vendor-specific tooling guides</a:t>
            </a:r>
            <a:endParaRPr lang="en-US" sz="1300" dirty="0"/>
          </a:p>
        </p:txBody>
      </p:sp>
      <p:sp>
        <p:nvSpPr>
          <p:cNvPr id="20" name="Text 18"/>
          <p:cNvSpPr/>
          <p:nvPr/>
        </p:nvSpPr>
        <p:spPr>
          <a:xfrm>
            <a:off x="6492240" y="4114800"/>
            <a:ext cx="4983480" cy="685800"/>
          </a:xfrm>
          <a:prstGeom prst="rect">
            <a:avLst/>
          </a:prstGeom>
          <a:noFill/>
          <a:ln/>
        </p:spPr>
        <p:txBody>
          <a:bodyPr wrap="square" lIns="0" tIns="0" rIns="0" bIns="0" rtlCol="0" anchor="t"/>
          <a:lstStyle/>
          <a:p>
            <a:pPr algn="l" indent="0" marL="0">
              <a:buNone/>
            </a:pPr>
            <a:r>
              <a:rPr lang="en-US" sz="1050" dirty="0">
                <a:solidFill>
                  <a:srgbClr val="1A1A1A"/>
                </a:solidFill>
                <a:latin typeface="Calibri" pitchFamily="34" charset="0"/>
                <a:ea typeface="Calibri" pitchFamily="34" charset="-122"/>
                <a:cs typeface="Calibri" pitchFamily="34" charset="-120"/>
              </a:rPr>
              <a:t>The spec is vendor-neutral. Implementations using specific clouds, models, orchestration platforms, or governance toolchains are addenda, not canonical.</a:t>
            </a:r>
            <a:endParaRPr lang="en-US" sz="1050" dirty="0"/>
          </a:p>
        </p:txBody>
      </p:sp>
      <p:sp>
        <p:nvSpPr>
          <p:cNvPr id="21" name="Shape 19"/>
          <p:cNvSpPr/>
          <p:nvPr/>
        </p:nvSpPr>
        <p:spPr>
          <a:xfrm>
            <a:off x="548640" y="5029200"/>
            <a:ext cx="5349240" cy="1280160"/>
          </a:xfrm>
          <a:prstGeom prst="rect">
            <a:avLst/>
          </a:prstGeom>
          <a:solidFill>
            <a:srgbClr val="F0EFEA"/>
          </a:solidFill>
          <a:ln w="6350">
            <a:solidFill>
              <a:srgbClr val="D8D6CE"/>
            </a:solidFill>
            <a:prstDash val="solid"/>
          </a:ln>
        </p:spPr>
      </p:sp>
      <p:sp>
        <p:nvSpPr>
          <p:cNvPr id="22" name="Shape 20"/>
          <p:cNvSpPr/>
          <p:nvPr/>
        </p:nvSpPr>
        <p:spPr>
          <a:xfrm>
            <a:off x="548640" y="5029200"/>
            <a:ext cx="54864" cy="1280160"/>
          </a:xfrm>
          <a:prstGeom prst="rect">
            <a:avLst/>
          </a:prstGeom>
          <a:solidFill>
            <a:srgbClr val="8B2E2E"/>
          </a:solidFill>
          <a:ln w="12700">
            <a:solidFill>
              <a:srgbClr val="8B2E2E"/>
            </a:solidFill>
            <a:prstDash val="solid"/>
          </a:ln>
        </p:spPr>
      </p:sp>
      <p:sp>
        <p:nvSpPr>
          <p:cNvPr id="23" name="Text 21"/>
          <p:cNvSpPr/>
          <p:nvPr/>
        </p:nvSpPr>
        <p:spPr>
          <a:xfrm>
            <a:off x="777240" y="5166360"/>
            <a:ext cx="4983480" cy="320040"/>
          </a:xfrm>
          <a:prstGeom prst="rect">
            <a:avLst/>
          </a:prstGeom>
          <a:noFill/>
          <a:ln/>
        </p:spPr>
        <p:txBody>
          <a:bodyPr wrap="square" lIns="0" tIns="0" rIns="0" bIns="0" rtlCol="0" anchor="t"/>
          <a:lstStyle/>
          <a:p>
            <a:pPr algn="l" indent="0" marL="0">
              <a:buNone/>
            </a:pPr>
            <a:r>
              <a:rPr lang="en-US" sz="1300" b="1" dirty="0">
                <a:solidFill>
                  <a:srgbClr val="1A1A1A"/>
                </a:solidFill>
                <a:latin typeface="Georgia" pitchFamily="34" charset="0"/>
                <a:ea typeface="Georgia" pitchFamily="34" charset="-122"/>
                <a:cs typeface="Georgia" pitchFamily="34" charset="-120"/>
              </a:rPr>
              <a:t>Training curriculum</a:t>
            </a:r>
            <a:endParaRPr lang="en-US" sz="1300" dirty="0"/>
          </a:p>
        </p:txBody>
      </p:sp>
      <p:sp>
        <p:nvSpPr>
          <p:cNvPr id="24" name="Text 22"/>
          <p:cNvSpPr/>
          <p:nvPr/>
        </p:nvSpPr>
        <p:spPr>
          <a:xfrm>
            <a:off x="777240" y="5532120"/>
            <a:ext cx="4983480" cy="685800"/>
          </a:xfrm>
          <a:prstGeom prst="rect">
            <a:avLst/>
          </a:prstGeom>
          <a:noFill/>
          <a:ln/>
        </p:spPr>
        <p:txBody>
          <a:bodyPr wrap="square" lIns="0" tIns="0" rIns="0" bIns="0" rtlCol="0" anchor="t"/>
          <a:lstStyle/>
          <a:p>
            <a:pPr algn="l" indent="0" marL="0">
              <a:buNone/>
            </a:pPr>
            <a:r>
              <a:rPr lang="en-US" sz="1050" dirty="0">
                <a:solidFill>
                  <a:srgbClr val="1A1A1A"/>
                </a:solidFill>
                <a:latin typeface="Calibri" pitchFamily="34" charset="0"/>
                <a:ea typeface="Calibri" pitchFamily="34" charset="-122"/>
                <a:cs typeface="Calibri" pitchFamily="34" charset="-120"/>
              </a:rPr>
              <a:t>The spec identifies competency requirements implicitly through role definitions. Training content, certification pathways, and skills frameworks are workforce development.</a:t>
            </a:r>
            <a:endParaRPr lang="en-US" sz="1050" dirty="0"/>
          </a:p>
        </p:txBody>
      </p:sp>
      <p:sp>
        <p:nvSpPr>
          <p:cNvPr id="25" name="Shape 23"/>
          <p:cNvSpPr/>
          <p:nvPr/>
        </p:nvSpPr>
        <p:spPr>
          <a:xfrm>
            <a:off x="6263640" y="5029200"/>
            <a:ext cx="5349240" cy="1280160"/>
          </a:xfrm>
          <a:prstGeom prst="rect">
            <a:avLst/>
          </a:prstGeom>
          <a:solidFill>
            <a:srgbClr val="F0EFEA"/>
          </a:solidFill>
          <a:ln w="6350">
            <a:solidFill>
              <a:srgbClr val="D8D6CE"/>
            </a:solidFill>
            <a:prstDash val="solid"/>
          </a:ln>
        </p:spPr>
      </p:sp>
      <p:sp>
        <p:nvSpPr>
          <p:cNvPr id="26" name="Shape 24"/>
          <p:cNvSpPr/>
          <p:nvPr/>
        </p:nvSpPr>
        <p:spPr>
          <a:xfrm>
            <a:off x="6263640" y="5029200"/>
            <a:ext cx="54864" cy="1280160"/>
          </a:xfrm>
          <a:prstGeom prst="rect">
            <a:avLst/>
          </a:prstGeom>
          <a:solidFill>
            <a:srgbClr val="8B2E2E"/>
          </a:solidFill>
          <a:ln w="12700">
            <a:solidFill>
              <a:srgbClr val="8B2E2E"/>
            </a:solidFill>
            <a:prstDash val="solid"/>
          </a:ln>
        </p:spPr>
      </p:sp>
      <p:sp>
        <p:nvSpPr>
          <p:cNvPr id="27" name="Text 25"/>
          <p:cNvSpPr/>
          <p:nvPr/>
        </p:nvSpPr>
        <p:spPr>
          <a:xfrm>
            <a:off x="6492240" y="5166360"/>
            <a:ext cx="4983480" cy="320040"/>
          </a:xfrm>
          <a:prstGeom prst="rect">
            <a:avLst/>
          </a:prstGeom>
          <a:noFill/>
          <a:ln/>
        </p:spPr>
        <p:txBody>
          <a:bodyPr wrap="square" lIns="0" tIns="0" rIns="0" bIns="0" rtlCol="0" anchor="t"/>
          <a:lstStyle/>
          <a:p>
            <a:pPr algn="l" indent="0" marL="0">
              <a:buNone/>
            </a:pPr>
            <a:r>
              <a:rPr lang="en-US" sz="1300" b="1" dirty="0">
                <a:solidFill>
                  <a:srgbClr val="1A1A1A"/>
                </a:solidFill>
                <a:latin typeface="Georgia" pitchFamily="34" charset="0"/>
                <a:ea typeface="Georgia" pitchFamily="34" charset="-122"/>
                <a:cs typeface="Georgia" pitchFamily="34" charset="-120"/>
              </a:rPr>
              <a:t>Operational runbooks</a:t>
            </a:r>
            <a:endParaRPr lang="en-US" sz="1300" dirty="0"/>
          </a:p>
        </p:txBody>
      </p:sp>
      <p:sp>
        <p:nvSpPr>
          <p:cNvPr id="28" name="Text 26"/>
          <p:cNvSpPr/>
          <p:nvPr/>
        </p:nvSpPr>
        <p:spPr>
          <a:xfrm>
            <a:off x="6492240" y="5532120"/>
            <a:ext cx="4983480" cy="685800"/>
          </a:xfrm>
          <a:prstGeom prst="rect">
            <a:avLst/>
          </a:prstGeom>
          <a:noFill/>
          <a:ln/>
        </p:spPr>
        <p:txBody>
          <a:bodyPr wrap="square" lIns="0" tIns="0" rIns="0" bIns="0" rtlCol="0" anchor="t"/>
          <a:lstStyle/>
          <a:p>
            <a:pPr algn="l" indent="0" marL="0">
              <a:buNone/>
            </a:pPr>
            <a:r>
              <a:rPr lang="en-US" sz="1050" dirty="0">
                <a:solidFill>
                  <a:srgbClr val="1A1A1A"/>
                </a:solidFill>
                <a:latin typeface="Calibri" pitchFamily="34" charset="0"/>
                <a:ea typeface="Calibri" pitchFamily="34" charset="-122"/>
                <a:cs typeface="Calibri" pitchFamily="34" charset="-120"/>
              </a:rPr>
              <a:t>The spec establishes the discipline that runbooks must align to the meta-harness. Runbook content itself is a property of specific deployments.</a:t>
            </a:r>
            <a:endParaRPr lang="en-US" sz="1050" dirty="0"/>
          </a:p>
        </p:txBody>
      </p:sp>
      <p:sp>
        <p:nvSpPr>
          <p:cNvPr id="29" name="Text 27"/>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12  ·  STANDARDS</a:t>
            </a:r>
            <a:endParaRPr lang="en-US" sz="900" dirty="0"/>
          </a:p>
        </p:txBody>
      </p:sp>
      <p:sp>
        <p:nvSpPr>
          <p:cNvPr id="3" name="Text 1"/>
          <p:cNvSpPr/>
          <p:nvPr/>
        </p:nvSpPr>
        <p:spPr>
          <a:xfrm>
            <a:off x="548640" y="640080"/>
            <a:ext cx="11064240" cy="640080"/>
          </a:xfrm>
          <a:prstGeom prst="rect">
            <a:avLst/>
          </a:prstGeom>
          <a:noFill/>
          <a:ln/>
        </p:spPr>
        <p:txBody>
          <a:bodyPr wrap="square" lIns="0" tIns="0" rIns="0" bIns="0" rtlCol="0" anchor="t"/>
          <a:lstStyle/>
          <a:p>
            <a:pPr algn="l" indent="0" marL="0">
              <a:buNone/>
            </a:pPr>
            <a:r>
              <a:rPr lang="en-US" sz="3200" b="1" dirty="0">
                <a:solidFill>
                  <a:srgbClr val="1A1A1A"/>
                </a:solidFill>
                <a:latin typeface="Georgia" pitchFamily="34" charset="0"/>
                <a:ea typeface="Georgia" pitchFamily="34" charset="-122"/>
                <a:cs typeface="Georgia" pitchFamily="34" charset="-120"/>
              </a:rPr>
              <a:t>Standards alignment</a:t>
            </a:r>
            <a:endParaRPr lang="en-US" sz="3200" dirty="0"/>
          </a:p>
        </p:txBody>
      </p:sp>
      <p:sp>
        <p:nvSpPr>
          <p:cNvPr id="4" name="Text 2"/>
          <p:cNvSpPr/>
          <p:nvPr/>
        </p:nvSpPr>
        <p:spPr>
          <a:xfrm>
            <a:off x="548640" y="1325880"/>
            <a:ext cx="11064240" cy="320040"/>
          </a:xfrm>
          <a:prstGeom prst="rect">
            <a:avLst/>
          </a:prstGeom>
          <a:noFill/>
          <a:ln/>
        </p:spPr>
        <p:txBody>
          <a:bodyPr wrap="square" lIns="0" tIns="0" rIns="0" bIns="0" rtlCol="0" anchor="t"/>
          <a:lstStyle/>
          <a:p>
            <a:pPr algn="l" indent="0" marL="0">
              <a:buNone/>
            </a:pPr>
            <a:r>
              <a:rPr lang="en-US" sz="1400" i="1" dirty="0">
                <a:solidFill>
                  <a:srgbClr val="6B6B6B"/>
                </a:solidFill>
                <a:latin typeface="Calibri" pitchFamily="34" charset="0"/>
                <a:ea typeface="Calibri" pitchFamily="34" charset="-122"/>
                <a:cs typeface="Calibri" pitchFamily="34" charset="-120"/>
              </a:rPr>
              <a:t>INCOSE  ·  ISO/IEC/IEEE 42010  ·  TOGAF</a:t>
            </a:r>
            <a:endParaRPr lang="en-US" sz="1400" dirty="0"/>
          </a:p>
        </p:txBody>
      </p:sp>
      <p:sp>
        <p:nvSpPr>
          <p:cNvPr id="5" name="Shape 3"/>
          <p:cNvSpPr/>
          <p:nvPr/>
        </p:nvSpPr>
        <p:spPr>
          <a:xfrm>
            <a:off x="548640" y="2194560"/>
            <a:ext cx="3200400" cy="365760"/>
          </a:xfrm>
          <a:prstGeom prst="rect">
            <a:avLst/>
          </a:prstGeom>
          <a:solidFill>
            <a:srgbClr val="DEDBD1"/>
          </a:solidFill>
          <a:ln w="6350">
            <a:solidFill>
              <a:srgbClr val="D8D6CE"/>
            </a:solidFill>
            <a:prstDash val="solid"/>
          </a:ln>
        </p:spPr>
      </p:sp>
      <p:sp>
        <p:nvSpPr>
          <p:cNvPr id="6" name="Text 4"/>
          <p:cNvSpPr/>
          <p:nvPr/>
        </p:nvSpPr>
        <p:spPr>
          <a:xfrm>
            <a:off x="685800" y="2194560"/>
            <a:ext cx="2926080" cy="365760"/>
          </a:xfrm>
          <a:prstGeom prst="rect">
            <a:avLst/>
          </a:prstGeom>
          <a:noFill/>
          <a:ln/>
        </p:spPr>
        <p:txBody>
          <a:bodyPr wrap="square" lIns="0" tIns="0" rIns="0" bIns="0" rtlCol="0" anchor="ctr"/>
          <a:lstStyle/>
          <a:p>
            <a:pPr algn="l" indent="0" marL="0">
              <a:buNone/>
            </a:pPr>
            <a:r>
              <a:rPr lang="en-US" sz="1000" b="1" spc="150" kern="0" dirty="0">
                <a:solidFill>
                  <a:srgbClr val="1A1A1A"/>
                </a:solidFill>
                <a:latin typeface="Calibri" pitchFamily="34" charset="0"/>
                <a:ea typeface="Calibri" pitchFamily="34" charset="-122"/>
                <a:cs typeface="Calibri" pitchFamily="34" charset="-120"/>
              </a:rPr>
              <a:t>MODUS PRIMUS CONCEPT</a:t>
            </a:r>
            <a:endParaRPr lang="en-US" sz="1000" dirty="0"/>
          </a:p>
        </p:txBody>
      </p:sp>
      <p:sp>
        <p:nvSpPr>
          <p:cNvPr id="7" name="Shape 5"/>
          <p:cNvSpPr/>
          <p:nvPr/>
        </p:nvSpPr>
        <p:spPr>
          <a:xfrm>
            <a:off x="3840480" y="2194560"/>
            <a:ext cx="4114800" cy="365760"/>
          </a:xfrm>
          <a:prstGeom prst="rect">
            <a:avLst/>
          </a:prstGeom>
          <a:solidFill>
            <a:srgbClr val="DEDBD1"/>
          </a:solidFill>
          <a:ln w="6350">
            <a:solidFill>
              <a:srgbClr val="D8D6CE"/>
            </a:solidFill>
            <a:prstDash val="solid"/>
          </a:ln>
        </p:spPr>
      </p:sp>
      <p:sp>
        <p:nvSpPr>
          <p:cNvPr id="8" name="Text 6"/>
          <p:cNvSpPr/>
          <p:nvPr/>
        </p:nvSpPr>
        <p:spPr>
          <a:xfrm>
            <a:off x="3977640" y="2194560"/>
            <a:ext cx="3840480" cy="365760"/>
          </a:xfrm>
          <a:prstGeom prst="rect">
            <a:avLst/>
          </a:prstGeom>
          <a:noFill/>
          <a:ln/>
        </p:spPr>
        <p:txBody>
          <a:bodyPr wrap="square" lIns="0" tIns="0" rIns="0" bIns="0" rtlCol="0" anchor="ctr"/>
          <a:lstStyle/>
          <a:p>
            <a:pPr algn="l" indent="0" marL="0">
              <a:buNone/>
            </a:pPr>
            <a:r>
              <a:rPr lang="en-US" sz="1000" b="1" spc="150" kern="0" dirty="0">
                <a:solidFill>
                  <a:srgbClr val="1A1A1A"/>
                </a:solidFill>
                <a:latin typeface="Calibri" pitchFamily="34" charset="0"/>
                <a:ea typeface="Calibri" pitchFamily="34" charset="-122"/>
                <a:cs typeface="Calibri" pitchFamily="34" charset="-120"/>
              </a:rPr>
              <a:t>EXTERNAL STANDARD ANALOGUE</a:t>
            </a:r>
            <a:endParaRPr lang="en-US" sz="1000" dirty="0"/>
          </a:p>
        </p:txBody>
      </p:sp>
      <p:sp>
        <p:nvSpPr>
          <p:cNvPr id="9" name="Shape 7"/>
          <p:cNvSpPr/>
          <p:nvPr/>
        </p:nvSpPr>
        <p:spPr>
          <a:xfrm>
            <a:off x="8046720" y="2194560"/>
            <a:ext cx="3749040" cy="365760"/>
          </a:xfrm>
          <a:prstGeom prst="rect">
            <a:avLst/>
          </a:prstGeom>
          <a:solidFill>
            <a:srgbClr val="DEDBD1"/>
          </a:solidFill>
          <a:ln w="6350">
            <a:solidFill>
              <a:srgbClr val="D8D6CE"/>
            </a:solidFill>
            <a:prstDash val="solid"/>
          </a:ln>
        </p:spPr>
      </p:sp>
      <p:sp>
        <p:nvSpPr>
          <p:cNvPr id="10" name="Text 8"/>
          <p:cNvSpPr/>
          <p:nvPr/>
        </p:nvSpPr>
        <p:spPr>
          <a:xfrm>
            <a:off x="8183880" y="2194560"/>
            <a:ext cx="3474720" cy="365760"/>
          </a:xfrm>
          <a:prstGeom prst="rect">
            <a:avLst/>
          </a:prstGeom>
          <a:noFill/>
          <a:ln/>
        </p:spPr>
        <p:txBody>
          <a:bodyPr wrap="square" lIns="0" tIns="0" rIns="0" bIns="0" rtlCol="0" anchor="ctr"/>
          <a:lstStyle/>
          <a:p>
            <a:pPr algn="l" indent="0" marL="0">
              <a:buNone/>
            </a:pPr>
            <a:r>
              <a:rPr lang="en-US" sz="1000" b="1" spc="150" kern="0" dirty="0">
                <a:solidFill>
                  <a:srgbClr val="1A1A1A"/>
                </a:solidFill>
                <a:latin typeface="Calibri" pitchFamily="34" charset="0"/>
                <a:ea typeface="Calibri" pitchFamily="34" charset="-122"/>
                <a:cs typeface="Calibri" pitchFamily="34" charset="-120"/>
              </a:rPr>
              <a:t>NOTES</a:t>
            </a:r>
            <a:endParaRPr lang="en-US" sz="1000" dirty="0"/>
          </a:p>
        </p:txBody>
      </p:sp>
      <p:sp>
        <p:nvSpPr>
          <p:cNvPr id="11" name="Shape 9"/>
          <p:cNvSpPr/>
          <p:nvPr/>
        </p:nvSpPr>
        <p:spPr>
          <a:xfrm>
            <a:off x="548640" y="2560320"/>
            <a:ext cx="3200400" cy="502920"/>
          </a:xfrm>
          <a:prstGeom prst="rect">
            <a:avLst/>
          </a:prstGeom>
          <a:solidFill>
            <a:srgbClr val="FAFAF7"/>
          </a:solidFill>
          <a:ln w="6350">
            <a:solidFill>
              <a:srgbClr val="D8D6CE"/>
            </a:solidFill>
            <a:prstDash val="solid"/>
          </a:ln>
        </p:spPr>
      </p:sp>
      <p:sp>
        <p:nvSpPr>
          <p:cNvPr id="12" name="Text 10"/>
          <p:cNvSpPr/>
          <p:nvPr/>
        </p:nvSpPr>
        <p:spPr>
          <a:xfrm>
            <a:off x="685800" y="2560320"/>
            <a:ext cx="29260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WBS (Section 3, Appendix B)</a:t>
            </a:r>
            <a:endParaRPr lang="en-US" sz="1000" dirty="0"/>
          </a:p>
        </p:txBody>
      </p:sp>
      <p:sp>
        <p:nvSpPr>
          <p:cNvPr id="13" name="Shape 11"/>
          <p:cNvSpPr/>
          <p:nvPr/>
        </p:nvSpPr>
        <p:spPr>
          <a:xfrm>
            <a:off x="3840480" y="2560320"/>
            <a:ext cx="4114800" cy="502920"/>
          </a:xfrm>
          <a:prstGeom prst="rect">
            <a:avLst/>
          </a:prstGeom>
          <a:solidFill>
            <a:srgbClr val="FAFAF7"/>
          </a:solidFill>
          <a:ln w="6350">
            <a:solidFill>
              <a:srgbClr val="D8D6CE"/>
            </a:solidFill>
            <a:prstDash val="solid"/>
          </a:ln>
        </p:spPr>
      </p:sp>
      <p:sp>
        <p:nvSpPr>
          <p:cNvPr id="14" name="Text 12"/>
          <p:cNvSpPr/>
          <p:nvPr/>
        </p:nvSpPr>
        <p:spPr>
          <a:xfrm>
            <a:off x="3977640" y="2560320"/>
            <a:ext cx="38404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INCOSE system breakdown; ISO/IEC/IEEE 42010 architecture description</a:t>
            </a:r>
            <a:endParaRPr lang="en-US" sz="1000" dirty="0"/>
          </a:p>
        </p:txBody>
      </p:sp>
      <p:sp>
        <p:nvSpPr>
          <p:cNvPr id="15" name="Shape 13"/>
          <p:cNvSpPr/>
          <p:nvPr/>
        </p:nvSpPr>
        <p:spPr>
          <a:xfrm>
            <a:off x="8046720" y="2560320"/>
            <a:ext cx="3749040" cy="502920"/>
          </a:xfrm>
          <a:prstGeom prst="rect">
            <a:avLst/>
          </a:prstGeom>
          <a:solidFill>
            <a:srgbClr val="FAFAF7"/>
          </a:solidFill>
          <a:ln w="6350">
            <a:solidFill>
              <a:srgbClr val="D8D6CE"/>
            </a:solidFill>
            <a:prstDash val="solid"/>
          </a:ln>
        </p:spPr>
      </p:sp>
      <p:sp>
        <p:nvSpPr>
          <p:cNvPr id="16" name="Text 14"/>
          <p:cNvSpPr/>
          <p:nvPr/>
        </p:nvSpPr>
        <p:spPr>
          <a:xfrm>
            <a:off x="8183880" y="2560320"/>
            <a:ext cx="347472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WBS as architectural spec; tech baselines as realization</a:t>
            </a:r>
            <a:endParaRPr lang="en-US" sz="1000" dirty="0"/>
          </a:p>
        </p:txBody>
      </p:sp>
      <p:sp>
        <p:nvSpPr>
          <p:cNvPr id="17" name="Shape 15"/>
          <p:cNvSpPr/>
          <p:nvPr/>
        </p:nvSpPr>
        <p:spPr>
          <a:xfrm>
            <a:off x="548640" y="3063240"/>
            <a:ext cx="3200400" cy="502920"/>
          </a:xfrm>
          <a:prstGeom prst="rect">
            <a:avLst/>
          </a:prstGeom>
          <a:solidFill>
            <a:srgbClr val="FAFAF7"/>
          </a:solidFill>
          <a:ln w="6350">
            <a:solidFill>
              <a:srgbClr val="D8D6CE"/>
            </a:solidFill>
            <a:prstDash val="solid"/>
          </a:ln>
        </p:spPr>
      </p:sp>
      <p:sp>
        <p:nvSpPr>
          <p:cNvPr id="18" name="Text 16"/>
          <p:cNvSpPr/>
          <p:nvPr/>
        </p:nvSpPr>
        <p:spPr>
          <a:xfrm>
            <a:off x="685800" y="3063240"/>
            <a:ext cx="29260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Five-M decomposition</a:t>
            </a:r>
            <a:endParaRPr lang="en-US" sz="1000" dirty="0"/>
          </a:p>
        </p:txBody>
      </p:sp>
      <p:sp>
        <p:nvSpPr>
          <p:cNvPr id="19" name="Shape 17"/>
          <p:cNvSpPr/>
          <p:nvPr/>
        </p:nvSpPr>
        <p:spPr>
          <a:xfrm>
            <a:off x="3840480" y="3063240"/>
            <a:ext cx="4114800" cy="502920"/>
          </a:xfrm>
          <a:prstGeom prst="rect">
            <a:avLst/>
          </a:prstGeom>
          <a:solidFill>
            <a:srgbClr val="FAFAF7"/>
          </a:solidFill>
          <a:ln w="6350">
            <a:solidFill>
              <a:srgbClr val="D8D6CE"/>
            </a:solidFill>
            <a:prstDash val="solid"/>
          </a:ln>
        </p:spPr>
      </p:sp>
      <p:sp>
        <p:nvSpPr>
          <p:cNvPr id="20" name="Text 18"/>
          <p:cNvSpPr/>
          <p:nvPr/>
        </p:nvSpPr>
        <p:spPr>
          <a:xfrm>
            <a:off x="3977640" y="3063240"/>
            <a:ext cx="38404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ISO/IEC/IEEE 42010 architecture viewpoints</a:t>
            </a:r>
            <a:endParaRPr lang="en-US" sz="1000" dirty="0"/>
          </a:p>
        </p:txBody>
      </p:sp>
      <p:sp>
        <p:nvSpPr>
          <p:cNvPr id="21" name="Shape 19"/>
          <p:cNvSpPr/>
          <p:nvPr/>
        </p:nvSpPr>
        <p:spPr>
          <a:xfrm>
            <a:off x="8046720" y="3063240"/>
            <a:ext cx="3749040" cy="502920"/>
          </a:xfrm>
          <a:prstGeom prst="rect">
            <a:avLst/>
          </a:prstGeom>
          <a:solidFill>
            <a:srgbClr val="FAFAF7"/>
          </a:solidFill>
          <a:ln w="6350">
            <a:solidFill>
              <a:srgbClr val="D8D6CE"/>
            </a:solidFill>
            <a:prstDash val="solid"/>
          </a:ln>
        </p:spPr>
      </p:sp>
      <p:sp>
        <p:nvSpPr>
          <p:cNvPr id="22" name="Text 20"/>
          <p:cNvSpPr/>
          <p:nvPr/>
        </p:nvSpPr>
        <p:spPr>
          <a:xfrm>
            <a:off x="8183880" y="3063240"/>
            <a:ext cx="347472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Each M is a viewpoint on the system's purposive disposition</a:t>
            </a:r>
            <a:endParaRPr lang="en-US" sz="1000" dirty="0"/>
          </a:p>
        </p:txBody>
      </p:sp>
      <p:sp>
        <p:nvSpPr>
          <p:cNvPr id="23" name="Shape 21"/>
          <p:cNvSpPr/>
          <p:nvPr/>
        </p:nvSpPr>
        <p:spPr>
          <a:xfrm>
            <a:off x="548640" y="3566160"/>
            <a:ext cx="3200400" cy="502920"/>
          </a:xfrm>
          <a:prstGeom prst="rect">
            <a:avLst/>
          </a:prstGeom>
          <a:solidFill>
            <a:srgbClr val="FAFAF7"/>
          </a:solidFill>
          <a:ln w="6350">
            <a:solidFill>
              <a:srgbClr val="D8D6CE"/>
            </a:solidFill>
            <a:prstDash val="solid"/>
          </a:ln>
        </p:spPr>
      </p:sp>
      <p:sp>
        <p:nvSpPr>
          <p:cNvPr id="24" name="Text 22"/>
          <p:cNvSpPr/>
          <p:nvPr/>
        </p:nvSpPr>
        <p:spPr>
          <a:xfrm>
            <a:off x="685800" y="3566160"/>
            <a:ext cx="29260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Federation pattern</a:t>
            </a:r>
            <a:endParaRPr lang="en-US" sz="1000" dirty="0"/>
          </a:p>
        </p:txBody>
      </p:sp>
      <p:sp>
        <p:nvSpPr>
          <p:cNvPr id="25" name="Shape 23"/>
          <p:cNvSpPr/>
          <p:nvPr/>
        </p:nvSpPr>
        <p:spPr>
          <a:xfrm>
            <a:off x="3840480" y="3566160"/>
            <a:ext cx="4114800" cy="502920"/>
          </a:xfrm>
          <a:prstGeom prst="rect">
            <a:avLst/>
          </a:prstGeom>
          <a:solidFill>
            <a:srgbClr val="FAFAF7"/>
          </a:solidFill>
          <a:ln w="6350">
            <a:solidFill>
              <a:srgbClr val="D8D6CE"/>
            </a:solidFill>
            <a:prstDash val="solid"/>
          </a:ln>
        </p:spPr>
      </p:sp>
      <p:sp>
        <p:nvSpPr>
          <p:cNvPr id="26" name="Text 24"/>
          <p:cNvSpPr/>
          <p:nvPr/>
        </p:nvSpPr>
        <p:spPr>
          <a:xfrm>
            <a:off x="3977640" y="3566160"/>
            <a:ext cx="38404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TOGAF federation; ISO/IEC/IEEE 42010 frameworks</a:t>
            </a:r>
            <a:endParaRPr lang="en-US" sz="1000" dirty="0"/>
          </a:p>
        </p:txBody>
      </p:sp>
      <p:sp>
        <p:nvSpPr>
          <p:cNvPr id="27" name="Shape 25"/>
          <p:cNvSpPr/>
          <p:nvPr/>
        </p:nvSpPr>
        <p:spPr>
          <a:xfrm>
            <a:off x="8046720" y="3566160"/>
            <a:ext cx="3749040" cy="502920"/>
          </a:xfrm>
          <a:prstGeom prst="rect">
            <a:avLst/>
          </a:prstGeom>
          <a:solidFill>
            <a:srgbClr val="FAFAF7"/>
          </a:solidFill>
          <a:ln w="6350">
            <a:solidFill>
              <a:srgbClr val="D8D6CE"/>
            </a:solidFill>
            <a:prstDash val="solid"/>
          </a:ln>
        </p:spPr>
      </p:sp>
      <p:sp>
        <p:nvSpPr>
          <p:cNvPr id="28" name="Text 26"/>
          <p:cNvSpPr/>
          <p:nvPr/>
        </p:nvSpPr>
        <p:spPr>
          <a:xfrm>
            <a:off x="8183880" y="3566160"/>
            <a:ext cx="347472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Tier-bounded inheritance contracts with delegation</a:t>
            </a:r>
            <a:endParaRPr lang="en-US" sz="1000" dirty="0"/>
          </a:p>
        </p:txBody>
      </p:sp>
      <p:sp>
        <p:nvSpPr>
          <p:cNvPr id="29" name="Shape 27"/>
          <p:cNvSpPr/>
          <p:nvPr/>
        </p:nvSpPr>
        <p:spPr>
          <a:xfrm>
            <a:off x="548640" y="4069080"/>
            <a:ext cx="3200400" cy="502920"/>
          </a:xfrm>
          <a:prstGeom prst="rect">
            <a:avLst/>
          </a:prstGeom>
          <a:solidFill>
            <a:srgbClr val="FAFAF7"/>
          </a:solidFill>
          <a:ln w="6350">
            <a:solidFill>
              <a:srgbClr val="D8D6CE"/>
            </a:solidFill>
            <a:prstDash val="solid"/>
          </a:ln>
        </p:spPr>
      </p:sp>
      <p:sp>
        <p:nvSpPr>
          <p:cNvPr id="30" name="Text 28"/>
          <p:cNvSpPr/>
          <p:nvPr/>
        </p:nvSpPr>
        <p:spPr>
          <a:xfrm>
            <a:off x="685800" y="4069080"/>
            <a:ext cx="29260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V&amp;V instruments</a:t>
            </a:r>
            <a:endParaRPr lang="en-US" sz="1000" dirty="0"/>
          </a:p>
        </p:txBody>
      </p:sp>
      <p:sp>
        <p:nvSpPr>
          <p:cNvPr id="31" name="Shape 29"/>
          <p:cNvSpPr/>
          <p:nvPr/>
        </p:nvSpPr>
        <p:spPr>
          <a:xfrm>
            <a:off x="3840480" y="4069080"/>
            <a:ext cx="4114800" cy="502920"/>
          </a:xfrm>
          <a:prstGeom prst="rect">
            <a:avLst/>
          </a:prstGeom>
          <a:solidFill>
            <a:srgbClr val="FAFAF7"/>
          </a:solidFill>
          <a:ln w="6350">
            <a:solidFill>
              <a:srgbClr val="D8D6CE"/>
            </a:solidFill>
            <a:prstDash val="solid"/>
          </a:ln>
        </p:spPr>
      </p:sp>
      <p:sp>
        <p:nvSpPr>
          <p:cNvPr id="32" name="Text 30"/>
          <p:cNvSpPr/>
          <p:nvPr/>
        </p:nvSpPr>
        <p:spPr>
          <a:xfrm>
            <a:off x="3977640" y="4069080"/>
            <a:ext cx="38404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INCOSE V&amp;V; ISO/IEC/IEEE 15288</a:t>
            </a:r>
            <a:endParaRPr lang="en-US" sz="1000" dirty="0"/>
          </a:p>
        </p:txBody>
      </p:sp>
      <p:sp>
        <p:nvSpPr>
          <p:cNvPr id="33" name="Shape 31"/>
          <p:cNvSpPr/>
          <p:nvPr/>
        </p:nvSpPr>
        <p:spPr>
          <a:xfrm>
            <a:off x="8046720" y="4069080"/>
            <a:ext cx="3749040" cy="502920"/>
          </a:xfrm>
          <a:prstGeom prst="rect">
            <a:avLst/>
          </a:prstGeom>
          <a:solidFill>
            <a:srgbClr val="FAFAF7"/>
          </a:solidFill>
          <a:ln w="6350">
            <a:solidFill>
              <a:srgbClr val="D8D6CE"/>
            </a:solidFill>
            <a:prstDash val="solid"/>
          </a:ln>
        </p:spPr>
      </p:sp>
      <p:sp>
        <p:nvSpPr>
          <p:cNvPr id="34" name="Text 32"/>
          <p:cNvSpPr/>
          <p:nvPr/>
        </p:nvSpPr>
        <p:spPr>
          <a:xfrm>
            <a:off x="8183880" y="4069080"/>
            <a:ext cx="347472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Specialized for substrate volatility and non-determinism</a:t>
            </a:r>
            <a:endParaRPr lang="en-US" sz="1000" dirty="0"/>
          </a:p>
        </p:txBody>
      </p:sp>
      <p:sp>
        <p:nvSpPr>
          <p:cNvPr id="35" name="Shape 33"/>
          <p:cNvSpPr/>
          <p:nvPr/>
        </p:nvSpPr>
        <p:spPr>
          <a:xfrm>
            <a:off x="548640" y="4572000"/>
            <a:ext cx="3200400" cy="502920"/>
          </a:xfrm>
          <a:prstGeom prst="rect">
            <a:avLst/>
          </a:prstGeom>
          <a:solidFill>
            <a:srgbClr val="FAFAF7"/>
          </a:solidFill>
          <a:ln w="6350">
            <a:solidFill>
              <a:srgbClr val="D8D6CE"/>
            </a:solidFill>
            <a:prstDash val="solid"/>
          </a:ln>
        </p:spPr>
      </p:sp>
      <p:sp>
        <p:nvSpPr>
          <p:cNvPr id="36" name="Text 34"/>
          <p:cNvSpPr/>
          <p:nvPr/>
        </p:nvSpPr>
        <p:spPr>
          <a:xfrm>
            <a:off x="685800" y="4572000"/>
            <a:ext cx="29260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Runtime assurance</a:t>
            </a:r>
            <a:endParaRPr lang="en-US" sz="1000" dirty="0"/>
          </a:p>
        </p:txBody>
      </p:sp>
      <p:sp>
        <p:nvSpPr>
          <p:cNvPr id="37" name="Shape 35"/>
          <p:cNvSpPr/>
          <p:nvPr/>
        </p:nvSpPr>
        <p:spPr>
          <a:xfrm>
            <a:off x="3840480" y="4572000"/>
            <a:ext cx="4114800" cy="502920"/>
          </a:xfrm>
          <a:prstGeom prst="rect">
            <a:avLst/>
          </a:prstGeom>
          <a:solidFill>
            <a:srgbClr val="FAFAF7"/>
          </a:solidFill>
          <a:ln w="6350">
            <a:solidFill>
              <a:srgbClr val="D8D6CE"/>
            </a:solidFill>
            <a:prstDash val="solid"/>
          </a:ln>
        </p:spPr>
      </p:sp>
      <p:sp>
        <p:nvSpPr>
          <p:cNvPr id="38" name="Text 36"/>
          <p:cNvSpPr/>
          <p:nvPr/>
        </p:nvSpPr>
        <p:spPr>
          <a:xfrm>
            <a:off x="3977640" y="4572000"/>
            <a:ext cx="38404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Runtime verification; continuous IV&amp;V</a:t>
            </a:r>
            <a:endParaRPr lang="en-US" sz="1000" dirty="0"/>
          </a:p>
        </p:txBody>
      </p:sp>
      <p:sp>
        <p:nvSpPr>
          <p:cNvPr id="39" name="Shape 37"/>
          <p:cNvSpPr/>
          <p:nvPr/>
        </p:nvSpPr>
        <p:spPr>
          <a:xfrm>
            <a:off x="8046720" y="4572000"/>
            <a:ext cx="3749040" cy="502920"/>
          </a:xfrm>
          <a:prstGeom prst="rect">
            <a:avLst/>
          </a:prstGeom>
          <a:solidFill>
            <a:srgbClr val="FAFAF7"/>
          </a:solidFill>
          <a:ln w="6350">
            <a:solidFill>
              <a:srgbClr val="D8D6CE"/>
            </a:solidFill>
            <a:prstDash val="solid"/>
          </a:ln>
        </p:spPr>
      </p:sp>
      <p:sp>
        <p:nvSpPr>
          <p:cNvPr id="40" name="Text 38"/>
          <p:cNvSpPr/>
          <p:nvPr/>
        </p:nvSpPr>
        <p:spPr>
          <a:xfrm>
            <a:off x="8183880" y="4572000"/>
            <a:ext cx="347472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AI-architecture-specific drift, coherence, deviation</a:t>
            </a:r>
            <a:endParaRPr lang="en-US" sz="1000" dirty="0"/>
          </a:p>
        </p:txBody>
      </p:sp>
      <p:sp>
        <p:nvSpPr>
          <p:cNvPr id="41" name="Shape 39"/>
          <p:cNvSpPr/>
          <p:nvPr/>
        </p:nvSpPr>
        <p:spPr>
          <a:xfrm>
            <a:off x="548640" y="5074920"/>
            <a:ext cx="3200400" cy="502920"/>
          </a:xfrm>
          <a:prstGeom prst="rect">
            <a:avLst/>
          </a:prstGeom>
          <a:solidFill>
            <a:srgbClr val="FAFAF7"/>
          </a:solidFill>
          <a:ln w="6350">
            <a:solidFill>
              <a:srgbClr val="D8D6CE"/>
            </a:solidFill>
            <a:prstDash val="solid"/>
          </a:ln>
        </p:spPr>
      </p:sp>
      <p:sp>
        <p:nvSpPr>
          <p:cNvPr id="42" name="Text 40"/>
          <p:cNvSpPr/>
          <p:nvPr/>
        </p:nvSpPr>
        <p:spPr>
          <a:xfrm>
            <a:off x="685800" y="5074920"/>
            <a:ext cx="29260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Trust escalation model</a:t>
            </a:r>
            <a:endParaRPr lang="en-US" sz="1000" dirty="0"/>
          </a:p>
        </p:txBody>
      </p:sp>
      <p:sp>
        <p:nvSpPr>
          <p:cNvPr id="43" name="Shape 41"/>
          <p:cNvSpPr/>
          <p:nvPr/>
        </p:nvSpPr>
        <p:spPr>
          <a:xfrm>
            <a:off x="3840480" y="5074920"/>
            <a:ext cx="4114800" cy="502920"/>
          </a:xfrm>
          <a:prstGeom prst="rect">
            <a:avLst/>
          </a:prstGeom>
          <a:solidFill>
            <a:srgbClr val="FAFAF7"/>
          </a:solidFill>
          <a:ln w="6350">
            <a:solidFill>
              <a:srgbClr val="D8D6CE"/>
            </a:solidFill>
            <a:prstDash val="solid"/>
          </a:ln>
        </p:spPr>
      </p:sp>
      <p:sp>
        <p:nvSpPr>
          <p:cNvPr id="44" name="Text 42"/>
          <p:cNvSpPr/>
          <p:nvPr/>
        </p:nvSpPr>
        <p:spPr>
          <a:xfrm>
            <a:off x="3977640" y="5074920"/>
            <a:ext cx="384048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Authority-to-Operate progression; risk-based access</a:t>
            </a:r>
            <a:endParaRPr lang="en-US" sz="1000" dirty="0"/>
          </a:p>
        </p:txBody>
      </p:sp>
      <p:sp>
        <p:nvSpPr>
          <p:cNvPr id="45" name="Shape 43"/>
          <p:cNvSpPr/>
          <p:nvPr/>
        </p:nvSpPr>
        <p:spPr>
          <a:xfrm>
            <a:off x="8046720" y="5074920"/>
            <a:ext cx="3749040" cy="502920"/>
          </a:xfrm>
          <a:prstGeom prst="rect">
            <a:avLst/>
          </a:prstGeom>
          <a:solidFill>
            <a:srgbClr val="FAFAF7"/>
          </a:solidFill>
          <a:ln w="6350">
            <a:solidFill>
              <a:srgbClr val="D8D6CE"/>
            </a:solidFill>
            <a:prstDash val="solid"/>
          </a:ln>
        </p:spPr>
      </p:sp>
      <p:sp>
        <p:nvSpPr>
          <p:cNvPr id="46" name="Text 44"/>
          <p:cNvSpPr/>
          <p:nvPr/>
        </p:nvSpPr>
        <p:spPr>
          <a:xfrm>
            <a:off x="8183880" y="5074920"/>
            <a:ext cx="3474720" cy="502920"/>
          </a:xfrm>
          <a:prstGeom prst="rect">
            <a:avLst/>
          </a:prstGeom>
          <a:noFill/>
          <a:ln/>
        </p:spPr>
        <p:txBody>
          <a:bodyPr wrap="square" lIns="0" tIns="0" rIns="0" bIns="0" rtlCol="0" anchor="ctr"/>
          <a:lstStyle/>
          <a:p>
            <a:pPr algn="l" indent="0" marL="0">
              <a:buNone/>
            </a:pPr>
            <a:r>
              <a:rPr lang="en-US" sz="1000" dirty="0">
                <a:solidFill>
                  <a:srgbClr val="1A1A1A"/>
                </a:solidFill>
                <a:latin typeface="Calibri" pitchFamily="34" charset="0"/>
                <a:ea typeface="Calibri" pitchFamily="34" charset="-122"/>
                <a:cs typeface="Calibri" pitchFamily="34" charset="-120"/>
              </a:rPr>
              <a:t>Governance primitive tying execution-policy to execution-runtime</a:t>
            </a:r>
            <a:endParaRPr lang="en-US" sz="1000" dirty="0"/>
          </a:p>
        </p:txBody>
      </p:sp>
      <p:sp>
        <p:nvSpPr>
          <p:cNvPr id="47" name="Text 45"/>
          <p:cNvSpPr/>
          <p:nvPr/>
        </p:nvSpPr>
        <p:spPr>
          <a:xfrm>
            <a:off x="548640" y="6263640"/>
            <a:ext cx="11064240" cy="365760"/>
          </a:xfrm>
          <a:prstGeom prst="rect">
            <a:avLst/>
          </a:prstGeom>
          <a:noFill/>
          <a:ln/>
        </p:spPr>
        <p:txBody>
          <a:bodyPr wrap="square" lIns="0" tIns="0" rIns="0" bIns="0" rtlCol="0" anchor="ctr"/>
          <a:lstStyle/>
          <a:p>
            <a:pPr algn="l" indent="0" marL="0">
              <a:buNone/>
            </a:pPr>
            <a:r>
              <a:rPr lang="en-US" sz="1000" i="1" dirty="0">
                <a:solidFill>
                  <a:srgbClr val="6B6B6B"/>
                </a:solidFill>
                <a:latin typeface="Calibri" pitchFamily="34" charset="0"/>
                <a:ea typeface="Calibri" pitchFamily="34" charset="-122"/>
                <a:cs typeface="Calibri" pitchFamily="34" charset="-120"/>
              </a:rPr>
              <a:t>The framework is consistent with established systems engineering and architecture-description conventions. It does not claim to be a strict implementation of any single framework; where terminology differs, the specification's terminology is authoritative within its own scope.</a:t>
            </a:r>
            <a:endParaRPr lang="en-US" sz="1000" dirty="0"/>
          </a:p>
        </p:txBody>
      </p:sp>
      <p:sp>
        <p:nvSpPr>
          <p:cNvPr id="48" name="Text 46"/>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p:bgPr>
    </p:bg>
    <p:spTree>
      <p:nvGrpSpPr>
        <p:cNvPr id="1" name=""/>
        <p:cNvGrpSpPr/>
        <p:nvPr/>
      </p:nvGrpSpPr>
      <p:grpSpPr>
        <a:xfrm>
          <a:off x="0" y="0"/>
          <a:ext cx="0" cy="0"/>
          <a:chOff x="0" y="0"/>
          <a:chExt cx="0" cy="0"/>
        </a:xfrm>
      </p:grpSpPr>
      <p:sp>
        <p:nvSpPr>
          <p:cNvPr id="2" name="Text 0"/>
          <p:cNvSpPr/>
          <p:nvPr/>
        </p:nvSpPr>
        <p:spPr>
          <a:xfrm>
            <a:off x="548640" y="274320"/>
            <a:ext cx="11064240" cy="274320"/>
          </a:xfrm>
          <a:prstGeom prst="rect">
            <a:avLst/>
          </a:prstGeom>
          <a:noFill/>
          <a:ln/>
        </p:spPr>
        <p:txBody>
          <a:bodyPr wrap="square" lIns="0" tIns="0" rIns="0" bIns="0" rtlCol="0" anchor="ctr"/>
          <a:lstStyle/>
          <a:p>
            <a:pPr algn="l" indent="0" marL="0">
              <a:buNone/>
            </a:pPr>
            <a:r>
              <a:rPr lang="en-US" sz="900" i="1" spc="100" kern="0" dirty="0">
                <a:solidFill>
                  <a:srgbClr val="6B6B6B"/>
                </a:solidFill>
                <a:latin typeface="Calibri" pitchFamily="34" charset="0"/>
                <a:ea typeface="Calibri" pitchFamily="34" charset="-122"/>
                <a:cs typeface="Calibri" pitchFamily="34" charset="-120"/>
              </a:rPr>
              <a:t>13  ·  CLOSING</a:t>
            </a:r>
            <a:endParaRPr lang="en-US" sz="900" dirty="0"/>
          </a:p>
        </p:txBody>
      </p:sp>
      <p:sp>
        <p:nvSpPr>
          <p:cNvPr id="3" name="Text 1"/>
          <p:cNvSpPr/>
          <p:nvPr/>
        </p:nvSpPr>
        <p:spPr>
          <a:xfrm>
            <a:off x="0" y="1645920"/>
            <a:ext cx="12161520" cy="640080"/>
          </a:xfrm>
          <a:prstGeom prst="rect">
            <a:avLst/>
          </a:prstGeom>
          <a:noFill/>
          <a:ln/>
        </p:spPr>
        <p:txBody>
          <a:bodyPr wrap="square" lIns="0" tIns="0" rIns="0" bIns="0" rtlCol="0" anchor="ctr"/>
          <a:lstStyle/>
          <a:p>
            <a:pPr algn="ctr" indent="0" marL="0">
              <a:buNone/>
            </a:pPr>
            <a:r>
              <a:rPr lang="en-US" sz="3600" b="1" dirty="0">
                <a:solidFill>
                  <a:srgbClr val="1A1A1A"/>
                </a:solidFill>
                <a:latin typeface="Georgia" pitchFamily="34" charset="0"/>
                <a:ea typeface="Georgia" pitchFamily="34" charset="-122"/>
                <a:cs typeface="Georgia" pitchFamily="34" charset="-120"/>
              </a:rPr>
              <a:t>Both documents are public.</a:t>
            </a:r>
            <a:endParaRPr lang="en-US" sz="3600" dirty="0"/>
          </a:p>
        </p:txBody>
      </p:sp>
      <p:sp>
        <p:nvSpPr>
          <p:cNvPr id="4" name="Text 2"/>
          <p:cNvSpPr/>
          <p:nvPr/>
        </p:nvSpPr>
        <p:spPr>
          <a:xfrm>
            <a:off x="0" y="2331720"/>
            <a:ext cx="12161520" cy="365760"/>
          </a:xfrm>
          <a:prstGeom prst="rect">
            <a:avLst/>
          </a:prstGeom>
          <a:noFill/>
          <a:ln/>
        </p:spPr>
        <p:txBody>
          <a:bodyPr wrap="square" lIns="0" tIns="0" rIns="0" bIns="0" rtlCol="0" anchor="ctr"/>
          <a:lstStyle/>
          <a:p>
            <a:pPr algn="ctr" indent="0" marL="0">
              <a:buNone/>
            </a:pPr>
            <a:r>
              <a:rPr lang="en-US" sz="1600" i="1" dirty="0">
                <a:solidFill>
                  <a:srgbClr val="6B6B6B"/>
                </a:solidFill>
                <a:latin typeface="Calibri" pitchFamily="34" charset="0"/>
                <a:ea typeface="Calibri" pitchFamily="34" charset="-122"/>
                <a:cs typeface="Calibri" pitchFamily="34" charset="-120"/>
              </a:rPr>
              <a:t>Both documents are independently citable.  Both are CC BY 4.0.</a:t>
            </a:r>
            <a:endParaRPr lang="en-US" sz="1600" dirty="0"/>
          </a:p>
        </p:txBody>
      </p:sp>
      <p:sp>
        <p:nvSpPr>
          <p:cNvPr id="5" name="Shape 3"/>
          <p:cNvSpPr/>
          <p:nvPr/>
        </p:nvSpPr>
        <p:spPr>
          <a:xfrm>
            <a:off x="548640" y="3200400"/>
            <a:ext cx="5257800" cy="1828800"/>
          </a:xfrm>
          <a:prstGeom prst="rect">
            <a:avLst/>
          </a:prstGeom>
          <a:solidFill>
            <a:srgbClr val="F0EFEA"/>
          </a:solidFill>
          <a:ln w="6350">
            <a:solidFill>
              <a:srgbClr val="D8D6CE"/>
            </a:solidFill>
            <a:prstDash val="solid"/>
          </a:ln>
        </p:spPr>
      </p:sp>
      <p:sp>
        <p:nvSpPr>
          <p:cNvPr id="6" name="Shape 4"/>
          <p:cNvSpPr/>
          <p:nvPr/>
        </p:nvSpPr>
        <p:spPr>
          <a:xfrm>
            <a:off x="548640" y="3200400"/>
            <a:ext cx="54864" cy="1828800"/>
          </a:xfrm>
          <a:prstGeom prst="rect">
            <a:avLst/>
          </a:prstGeom>
          <a:solidFill>
            <a:srgbClr val="8B2E2E"/>
          </a:solidFill>
          <a:ln w="12700">
            <a:solidFill>
              <a:srgbClr val="8B2E2E"/>
            </a:solidFill>
            <a:prstDash val="solid"/>
          </a:ln>
        </p:spPr>
      </p:sp>
      <p:sp>
        <p:nvSpPr>
          <p:cNvPr id="7" name="Text 5"/>
          <p:cNvSpPr/>
          <p:nvPr/>
        </p:nvSpPr>
        <p:spPr>
          <a:xfrm>
            <a:off x="777240" y="3383280"/>
            <a:ext cx="4892040" cy="274320"/>
          </a:xfrm>
          <a:prstGeom prst="rect">
            <a:avLst/>
          </a:prstGeom>
          <a:noFill/>
          <a:ln/>
        </p:spPr>
        <p:txBody>
          <a:bodyPr wrap="square" lIns="0" tIns="0" rIns="0" bIns="0" rtlCol="0" anchor="ctr"/>
          <a:lstStyle/>
          <a:p>
            <a:pPr indent="0" marL="0">
              <a:buNone/>
            </a:pPr>
            <a:r>
              <a:rPr lang="en-US" sz="1000" b="1" spc="200" kern="0" dirty="0">
                <a:solidFill>
                  <a:srgbClr val="8B2E2E"/>
                </a:solidFill>
                <a:latin typeface="Calibri" pitchFamily="34" charset="0"/>
                <a:ea typeface="Calibri" pitchFamily="34" charset="-122"/>
                <a:cs typeface="Calibri" pitchFamily="34" charset="-120"/>
              </a:rPr>
              <a:t>PAHA  ·  ARCHITECTURAL PATTERN</a:t>
            </a:r>
            <a:endParaRPr lang="en-US" sz="1000" dirty="0"/>
          </a:p>
        </p:txBody>
      </p:sp>
      <p:sp>
        <p:nvSpPr>
          <p:cNvPr id="8" name="Text 6"/>
          <p:cNvSpPr/>
          <p:nvPr/>
        </p:nvSpPr>
        <p:spPr>
          <a:xfrm>
            <a:off x="777240" y="3749040"/>
            <a:ext cx="4892040" cy="731520"/>
          </a:xfrm>
          <a:prstGeom prst="rect">
            <a:avLst/>
          </a:prstGeom>
          <a:noFill/>
          <a:ln/>
        </p:spPr>
        <p:txBody>
          <a:bodyPr wrap="square" lIns="0" tIns="0" rIns="0" bIns="0" rtlCol="0" anchor="t"/>
          <a:lstStyle/>
          <a:p>
            <a:pPr algn="l" indent="0" marL="0">
              <a:buNone/>
            </a:pPr>
            <a:r>
              <a:rPr lang="en-US" sz="1200" i="1" dirty="0">
                <a:solidFill>
                  <a:srgbClr val="1A1A1A"/>
                </a:solidFill>
                <a:latin typeface="Calibri" pitchFamily="34" charset="0"/>
                <a:ea typeface="Calibri" pitchFamily="34" charset="-122"/>
                <a:cs typeface="Calibri" pitchFamily="34" charset="-120"/>
              </a:rPr>
              <a:t>Longmire, J. (2026). Portable Agent Harness Architecture (Rev 2.2). Zenodo.</a:t>
            </a:r>
            <a:endParaRPr lang="en-US" sz="1200" dirty="0"/>
          </a:p>
        </p:txBody>
      </p:sp>
      <p:sp>
        <p:nvSpPr>
          <p:cNvPr id="9" name="Text 7"/>
          <p:cNvSpPr/>
          <p:nvPr/>
        </p:nvSpPr>
        <p:spPr>
          <a:xfrm>
            <a:off x="777240" y="4572000"/>
            <a:ext cx="4892040" cy="274320"/>
          </a:xfrm>
          <a:prstGeom prst="rect">
            <a:avLst/>
          </a:prstGeom>
          <a:noFill/>
          <a:ln/>
        </p:spPr>
        <p:txBody>
          <a:bodyPr wrap="square" lIns="0" tIns="0" rIns="0" bIns="0" rtlCol="0" anchor="ctr"/>
          <a:lstStyle/>
          <a:p>
            <a:pPr algn="l" indent="0" marL="0">
              <a:buNone/>
            </a:pPr>
            <a:r>
              <a:rPr lang="en-US" sz="1200" dirty="0">
                <a:solidFill>
                  <a:srgbClr val="8B2E2E"/>
                </a:solidFill>
                <a:latin typeface="Consolas" pitchFamily="34" charset="0"/>
                <a:ea typeface="Consolas" pitchFamily="34" charset="-122"/>
                <a:cs typeface="Consolas" pitchFamily="34" charset="-120"/>
              </a:rPr>
              <a:t>doi:10.5281/zenodo.20112631</a:t>
            </a:r>
            <a:endParaRPr lang="en-US" sz="1200" dirty="0"/>
          </a:p>
        </p:txBody>
      </p:sp>
      <p:sp>
        <p:nvSpPr>
          <p:cNvPr id="10" name="Shape 8"/>
          <p:cNvSpPr/>
          <p:nvPr/>
        </p:nvSpPr>
        <p:spPr>
          <a:xfrm>
            <a:off x="6355080" y="3200400"/>
            <a:ext cx="5257800" cy="1828800"/>
          </a:xfrm>
          <a:prstGeom prst="rect">
            <a:avLst/>
          </a:prstGeom>
          <a:solidFill>
            <a:srgbClr val="F0EFEA"/>
          </a:solidFill>
          <a:ln w="6350">
            <a:solidFill>
              <a:srgbClr val="D8D6CE"/>
            </a:solidFill>
            <a:prstDash val="solid"/>
          </a:ln>
        </p:spPr>
      </p:sp>
      <p:sp>
        <p:nvSpPr>
          <p:cNvPr id="11" name="Shape 9"/>
          <p:cNvSpPr/>
          <p:nvPr/>
        </p:nvSpPr>
        <p:spPr>
          <a:xfrm>
            <a:off x="6355080" y="3200400"/>
            <a:ext cx="54864" cy="1828800"/>
          </a:xfrm>
          <a:prstGeom prst="rect">
            <a:avLst/>
          </a:prstGeom>
          <a:solidFill>
            <a:srgbClr val="8B2E2E"/>
          </a:solidFill>
          <a:ln w="12700">
            <a:solidFill>
              <a:srgbClr val="8B2E2E"/>
            </a:solidFill>
            <a:prstDash val="solid"/>
          </a:ln>
        </p:spPr>
      </p:sp>
      <p:sp>
        <p:nvSpPr>
          <p:cNvPr id="12" name="Text 10"/>
          <p:cNvSpPr/>
          <p:nvPr/>
        </p:nvSpPr>
        <p:spPr>
          <a:xfrm>
            <a:off x="6583680" y="3383280"/>
            <a:ext cx="4892040" cy="274320"/>
          </a:xfrm>
          <a:prstGeom prst="rect">
            <a:avLst/>
          </a:prstGeom>
          <a:noFill/>
          <a:ln/>
        </p:spPr>
        <p:txBody>
          <a:bodyPr wrap="square" lIns="0" tIns="0" rIns="0" bIns="0" rtlCol="0" anchor="ctr"/>
          <a:lstStyle/>
          <a:p>
            <a:pPr indent="0" marL="0">
              <a:buNone/>
            </a:pPr>
            <a:r>
              <a:rPr lang="en-US" sz="1000" b="1" spc="200" kern="0" dirty="0">
                <a:solidFill>
                  <a:srgbClr val="8B2E2E"/>
                </a:solidFill>
                <a:latin typeface="Calibri" pitchFamily="34" charset="0"/>
                <a:ea typeface="Calibri" pitchFamily="34" charset="-122"/>
                <a:cs typeface="Calibri" pitchFamily="34" charset="-120"/>
              </a:rPr>
              <a:t>MODUS PRIMUS  ·  ENGINEERING PRACTICE</a:t>
            </a:r>
            <a:endParaRPr lang="en-US" sz="1000" dirty="0"/>
          </a:p>
        </p:txBody>
      </p:sp>
      <p:sp>
        <p:nvSpPr>
          <p:cNvPr id="13" name="Text 11"/>
          <p:cNvSpPr/>
          <p:nvPr/>
        </p:nvSpPr>
        <p:spPr>
          <a:xfrm>
            <a:off x="6583680" y="3749040"/>
            <a:ext cx="4892040" cy="731520"/>
          </a:xfrm>
          <a:prstGeom prst="rect">
            <a:avLst/>
          </a:prstGeom>
          <a:noFill/>
          <a:ln/>
        </p:spPr>
        <p:txBody>
          <a:bodyPr wrap="square" lIns="0" tIns="0" rIns="0" bIns="0" rtlCol="0" anchor="t"/>
          <a:lstStyle/>
          <a:p>
            <a:pPr algn="l" indent="0" marL="0">
              <a:buNone/>
            </a:pPr>
            <a:r>
              <a:rPr lang="en-US" sz="1200" i="1" dirty="0">
                <a:solidFill>
                  <a:srgbClr val="1A1A1A"/>
                </a:solidFill>
                <a:latin typeface="Calibri" pitchFamily="34" charset="0"/>
                <a:ea typeface="Calibri" pitchFamily="34" charset="-122"/>
                <a:cs typeface="Calibri" pitchFamily="34" charset="-120"/>
              </a:rPr>
              <a:t>Longmire, J. (2026). Modus Primus: Engineering Specification for AI Architecture (PAHA Companion), Version 1.1. Zenodo.</a:t>
            </a:r>
            <a:endParaRPr lang="en-US" sz="1200" dirty="0"/>
          </a:p>
        </p:txBody>
      </p:sp>
      <p:sp>
        <p:nvSpPr>
          <p:cNvPr id="14" name="Text 12"/>
          <p:cNvSpPr/>
          <p:nvPr/>
        </p:nvSpPr>
        <p:spPr>
          <a:xfrm>
            <a:off x="6583680" y="4572000"/>
            <a:ext cx="4892040" cy="274320"/>
          </a:xfrm>
          <a:prstGeom prst="rect">
            <a:avLst/>
          </a:prstGeom>
          <a:noFill/>
          <a:ln/>
        </p:spPr>
        <p:txBody>
          <a:bodyPr wrap="square" lIns="0" tIns="0" rIns="0" bIns="0" rtlCol="0" anchor="ctr"/>
          <a:lstStyle/>
          <a:p>
            <a:pPr algn="l" indent="0" marL="0">
              <a:buNone/>
            </a:pPr>
            <a:r>
              <a:rPr lang="en-US" sz="1200" dirty="0">
                <a:solidFill>
                  <a:srgbClr val="8B2E2E"/>
                </a:solidFill>
                <a:latin typeface="Consolas" pitchFamily="34" charset="0"/>
                <a:ea typeface="Consolas" pitchFamily="34" charset="-122"/>
                <a:cs typeface="Consolas" pitchFamily="34" charset="-120"/>
              </a:rPr>
              <a:t>doi:10.5281/zenodo.20113785</a:t>
            </a:r>
            <a:endParaRPr lang="en-US" sz="1200" dirty="0"/>
          </a:p>
        </p:txBody>
      </p:sp>
      <p:sp>
        <p:nvSpPr>
          <p:cNvPr id="15" name="Text 13"/>
          <p:cNvSpPr/>
          <p:nvPr/>
        </p:nvSpPr>
        <p:spPr>
          <a:xfrm>
            <a:off x="0" y="5760720"/>
            <a:ext cx="12161520" cy="274320"/>
          </a:xfrm>
          <a:prstGeom prst="rect">
            <a:avLst/>
          </a:prstGeom>
          <a:noFill/>
          <a:ln/>
        </p:spPr>
        <p:txBody>
          <a:bodyPr wrap="square" lIns="0" tIns="0" rIns="0" bIns="0" rtlCol="0" anchor="ctr"/>
          <a:lstStyle/>
          <a:p>
            <a:pPr algn="ctr" indent="0" marL="0">
              <a:buNone/>
            </a:pPr>
            <a:r>
              <a:rPr lang="en-US" sz="1400" b="1" dirty="0">
                <a:solidFill>
                  <a:srgbClr val="1A1A1A"/>
                </a:solidFill>
                <a:latin typeface="Calibri" pitchFamily="34" charset="0"/>
                <a:ea typeface="Calibri" pitchFamily="34" charset="-122"/>
                <a:cs typeface="Calibri" pitchFamily="34" charset="-120"/>
              </a:rPr>
              <a:t>James (JD) Longmire</a:t>
            </a:r>
            <a:endParaRPr lang="en-US" sz="1400" dirty="0"/>
          </a:p>
        </p:txBody>
      </p:sp>
      <p:sp>
        <p:nvSpPr>
          <p:cNvPr id="16" name="Text 14"/>
          <p:cNvSpPr/>
          <p:nvPr/>
        </p:nvSpPr>
        <p:spPr>
          <a:xfrm>
            <a:off x="0" y="6035040"/>
            <a:ext cx="12161520" cy="27432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Northrop Grumman Fellow (unaffiliated research)  ·  ORCID: 0009-0009-1383-7698  ·  jdlongmire@outlook.com</a:t>
            </a:r>
            <a:endParaRPr lang="en-US" sz="1100" dirty="0"/>
          </a:p>
        </p:txBody>
      </p:sp>
      <p:sp>
        <p:nvSpPr>
          <p:cNvPr id="17" name="Text 15"/>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Northrop Grumman Fellow (unaffiliated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Modus Primus Executive Brief</dc:title>
  <dc:subject>PptxGenJS Presentation</dc:subject>
  <dc:creator>James (JD) Longmire</dc:creator>
  <cp:lastModifiedBy>James (JD) Longmire</cp:lastModifiedBy>
  <cp:revision>1</cp:revision>
  <dcterms:created xsi:type="dcterms:W3CDTF">2026-05-10T20:52:33Z</dcterms:created>
  <dcterms:modified xsi:type="dcterms:W3CDTF">2026-05-10T20:52:33Z</dcterms:modified>
</cp:coreProperties>
</file>